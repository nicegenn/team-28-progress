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114800"/>
        </p:xfrm>
        <a:graphic>
          <a:graphicData uri="http://schemas.openxmlformats.org/drawingml/2006/table">
            <a:tbl>
              <a:tblPr/>
              <a:tblGrid>
                <a:gridCol w="3703320"/>
                <a:gridCol w="1371600"/>
                <a:gridCol w="1600200"/>
                <a:gridCol w="16002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замер по итогам
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это обращения в документообороте, а не заявки: срок рассмотрения 30 дней, за два месяца пилота динамики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 ч 08 мин —
7,5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минимум — заявка № 68 по журналу событий, верх — сумма медиан реакции и работы по УДС за 90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85 %
(11 из 13)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в пилоте заявки подавала в основном команда — на потоке доля будет ниже; цель 50 % от этого не меняется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67 %
(4 из 6)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нельзя без фото ИЛИ отчёта, в двух случаях из шести был только отчёт. Обязательное фото закрепляется регламентом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регистрация, категория, адрес и маршрут к исполнителю —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заявки, норма 72 ч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100 %
по УДС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по заявкам с настроенной цепочкой (3 из 3). Остальные семь просрочек — заявки июля-августа, до настройки маршрутизации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5,0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пока одна оценка. Переоткрытий жителем — 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00" b="0" dirty="0">
                <a:solidFill>
                  <a:srgbClr val="007A3D"/>
                </a:solidFill>
                <a:latin typeface="Onest Medium" pitchFamily="2" charset="-52"/>
              </a:rPr>
              <a:t xml:space="preserve">Зелёным — значения, заданные устройством процесса и подтверждённые журналом заявок. </a:t>
            </a:r>
            <a:r>
              <a:rPr lang="ru-RU" sz="900" b="0" dirty="0">
                <a:solidFill>
                  <a:srgbClr val="C00000"/>
                </a:solidFill>
                <a:latin typeface="Onest Medium" pitchFamily="2" charset="-52"/>
              </a:rPr>
              <a:t xml:space="preserve">Красным — замеренные значения, которые требуют оговорки на защите: разбор каждого — в приложении к отчёту.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Источник цифр — панель администрации округа, снимки экранов от 27.09.2026. Экономический эффект в рублях за год считается после получения стоимости часа специалиста.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Замеренное время протекания процесса — от 1 часа 8 минут до 7,5 суток против 10–44 дней. Очередь ожидания маршрутизации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Экраны бота и панели администрации — на слайдах приложения после «Дополнительной информации»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девять при пороге в пять. После тире — где инструмент виден в этой презентации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 — слайды «Карта текущего», «целевого» и «достигнутого состояния»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Восемь видов потерь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реестр с оценкой влияния на время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 — слайд «Результат жителю»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статусы, сроки, карта заявок, плотность проблем — слайд «Панель округа»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 в панели администрации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сервиса и памятки по ролям — таблица выше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заявку без подтверждения результата нельзя; сквозная дедупликация — слайд «У исполнителя»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Распоряжение № 534-р приложено сканом. Регламент и памятки вводятся в действие листом согласования и листом ознакомления исполнителей — отдельного приказа об утверждении не издаётся.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Официальный сайт администрации Благовещенского муниципального округа — https://blgraion.amurobl.ru/ : публикации о работе сервиса приёма сообщений «Точка перемен», о порядке подачи заявки жителем и о результатах устранения проблем на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6" name="Рисунок 9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9" name="Поле 959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