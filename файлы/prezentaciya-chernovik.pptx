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.xml" ContentType="application/vnd.openxmlformats-officedocument.presentationml.slide+xml"/>
  <Override PartName="/ppt/slideLayouts/slideLayout8.xml" ContentType="application/vnd.openxmlformats-officedocument.presentationml.slideLayout+xml"/>
  <Override PartName="/ppt/slides/slide9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1.xml" ContentType="application/vnd.openxmlformats-officedocument.presentationml.slideLayout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2.xml" ContentType="application/vnd.openxmlformats-officedocument.presentationml.slide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70" r:id="rId20"/>
    <p:sldId id="271" r:id="rId21"/>
    <p:sldId id="272" r:id="rId22"/>
    <p:sldId id="273" r:id="rId23"/>
    <p:sldId id="274" r:id="rId24"/>
    <p:sldId id="275" r:id="rId25"/>
    <p:sldId id="269" r:id="rId16"/>
  </p:sldIdLst>
  <p:sldSz cx="12192000" cy="6858000"/>
  <p:notesSz cx="12192000" cy="6858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  <a:prstDash val="dashDot"/>
            </a:ln>
          </a:left>
          <a:right>
            <a:ln w="12700">
              <a:solidFill>
                <a:schemeClr val="lt1"/>
              </a:solidFill>
              <a:prstDash val="dashDot"/>
            </a:ln>
          </a:right>
          <a:top>
            <a:ln w="12700">
              <a:solidFill>
                <a:schemeClr val="lt1"/>
              </a:solidFill>
              <a:prstDash val="dashDot"/>
            </a:ln>
          </a:top>
          <a:bottom>
            <a:ln w="12700">
              <a:solidFill>
                <a:schemeClr val="lt1"/>
              </a:solidFill>
              <a:prstDash val="dashDot"/>
            </a:ln>
          </a:bottom>
          <a:insideH>
            <a:ln w="12700">
              <a:solidFill>
                <a:schemeClr val="lt1"/>
              </a:solidFill>
              <a:prstDash val="dashDot"/>
            </a:ln>
          </a:insideH>
          <a:insideV>
            <a:ln w="12700">
              <a:solidFill>
                <a:schemeClr val="lt1"/>
              </a:solidFill>
              <a:prstDash val="dashDot"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  <a:prstDash val="dashDot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  <a:prstDash val="dashDot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88" d="100"/>
          <a:sy n="88" d="100"/>
        </p:scale>
        <p:origin x="96" y="564"/>
      </p:cViewPr>
      <p:guideLst>
        <p:guide pos="504" orient="horz"/>
        <p:guide pos="211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14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15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6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2"/>
          <a:srcRect l="0" t="0" r="47325" b="0"/>
          <a:stretch/>
        </p:blipFill>
        <p:spPr bwMode="auto">
          <a:xfrm>
            <a:off x="1" y="0"/>
            <a:ext cx="2329528" cy="6858000"/>
          </a:xfrm>
          <a:custGeom>
            <a:avLst/>
            <a:gdLst>
              <a:gd name="connsiteX0" fmla="*/ 0 w 2329528"/>
              <a:gd name="connsiteY0" fmla="*/ 0 h 6858000"/>
              <a:gd name="connsiteX1" fmla="*/ 1938995 w 2329528"/>
              <a:gd name="connsiteY1" fmla="*/ 0 h 6858000"/>
              <a:gd name="connsiteX2" fmla="*/ 2329528 w 2329528"/>
              <a:gd name="connsiteY2" fmla="*/ 390533 h 6858000"/>
              <a:gd name="connsiteX3" fmla="*/ 2329528 w 2329528"/>
              <a:gd name="connsiteY3" fmla="*/ 6467467 h 6858000"/>
              <a:gd name="connsiteX4" fmla="*/ 1938995 w 2329528"/>
              <a:gd name="connsiteY4" fmla="*/ 6858000 h 6858000"/>
              <a:gd name="connsiteX5" fmla="*/ 0 w 2329528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29528" h="6858000" fill="norm" stroke="1" extrusionOk="0">
                <a:moveTo>
                  <a:pt x="0" y="0"/>
                </a:moveTo>
                <a:lnTo>
                  <a:pt x="1938995" y="0"/>
                </a:lnTo>
                <a:cubicBezTo>
                  <a:pt x="2154680" y="0"/>
                  <a:pt x="2329528" y="174848"/>
                  <a:pt x="2329528" y="390533"/>
                </a:cubicBezTo>
                <a:lnTo>
                  <a:pt x="2329528" y="6467467"/>
                </a:lnTo>
                <a:cubicBezTo>
                  <a:pt x="2329528" y="6683152"/>
                  <a:pt x="2154680" y="6858000"/>
                  <a:pt x="1938995" y="6858000"/>
                </a:cubicBez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7" name="TextBox 6"/>
          <p:cNvSpPr txBox="1"/>
          <p:nvPr/>
        </p:nvSpPr>
        <p:spPr>
          <a:xfrm>
            <a:off x="2394266" y="1639886"/>
            <a:ext cx="98624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 xml:space="preserve">Оптимизация процесса устранения проблем благоустройства и содержания территории Благовещенского муниципального округа за счёт перехода от реагирования на обращения к их плановому выявлению и контролю результата</a:t>
            </a:r>
            <a:endParaRPr lang="ru-RU" sz="2400" dirty="0">
              <a:latin typeface="Onest Black" pitchFamily="2" charset="-52"/>
            </a:endParaRPr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4069507" y="1316205"/>
            <a:ext cx="6382512" cy="0"/>
          </a:xfrm>
          <a:prstGeom prst="line">
            <a:avLst/>
          </a:prstGeom>
          <a:ln w="31750" cap="rnd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53161" y="2409579"/>
            <a:ext cx="1924980" cy="211676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329528" y="924124"/>
            <a:ext cx="986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Onest Regular" pitchFamily="2" charset="-52"/>
              </a:rPr>
              <a:t>Отчетная презентация проекта</a:t>
            </a:r>
          </a:p>
        </p:txBody>
      </p:sp>
      <p:sp>
        <p:nvSpPr>
          <p:cNvPr id="26" name="Прямоугольник 25"/>
          <p:cNvSpPr/>
          <p:nvPr/>
        </p:nvSpPr>
        <p:spPr>
          <a:xfrm>
            <a:off x="7543800" y="4710127"/>
            <a:ext cx="403246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ДОКЛАДЧИК: Уваров Геннадий Геннадьевич</a:t>
            </a:r>
          </a:p>
          <a:p>
            <a:endParaRPr lang="ru-RU" sz="1600" dirty="0">
              <a:solidFill>
                <a:schemeClr val="tx1">
                  <a:lumMod val="75000"/>
                  <a:lumOff val="25000"/>
                </a:schemeClr>
              </a:solidFill>
              <a:latin typeface="Onest Medium" pitchFamily="2" charset="-52"/>
            </a:endParaRPr>
          </a:p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ОРГАНИЗАЦИЯ: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 </a:t>
            </a:r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Администрация Благовещенского муниципального округа</a:t>
            </a:r>
          </a:p>
        </p:txBody>
      </p:sp>
      <p:sp>
        <p:nvSpPr>
          <p:cNvPr id="9" name="TextBox 8"/>
          <p:cNvSpPr txBox="1"/>
          <p:nvPr/>
        </p:nvSpPr>
        <p:spPr bwMode="auto">
          <a:xfrm>
            <a:off x="251389" y="2948953"/>
            <a:ext cx="1826752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4800">
                <a:solidFill>
                  <a:schemeClr val="bg1"/>
                </a:solidFill>
                <a:latin typeface="Onest Black"/>
              </a:rPr>
              <a:t>202</a:t>
            </a:r>
            <a:r>
              <a:rPr lang="en-US" sz="4800">
                <a:solidFill>
                  <a:schemeClr val="bg1"/>
                </a:solidFill>
                <a:latin typeface="Onest Black"/>
              </a:rPr>
              <a:t>6</a:t>
            </a:r>
            <a:endParaRPr lang="ru-RU" sz="3200">
              <a:solidFill>
                <a:schemeClr val="bg1"/>
              </a:solidFill>
              <a:latin typeface="Onest Black"/>
            </a:endParaRPr>
          </a:p>
        </p:txBody>
      </p:sp>
      <p:sp>
        <p:nvSpPr>
          <p:cNvPr id="901" name="Поле 901"/>
          <p:cNvSpPr txBox="1"/>
          <p:nvPr/>
        </p:nvSpPr>
        <p:spPr>
          <a:xfrm>
            <a:off x="7360920" y="6236208"/>
            <a:ext cx="4526280" cy="5486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ПЕРИМЕТР ПРОЕКТА:</a:t>
            </a:r>
          </a:p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Администрация Благовещенского муниципального округа: инициативные группы граждан, приём сообщений, четыре направления, подразделения-исполнители, Глава округа. Охват — 27 населённых пунктов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2"/>
          <p:cNvSpPr/>
          <p:nvPr/>
        </p:nvSpPr>
        <p:spPr bwMode="auto">
          <a:xfrm rot="5400000">
            <a:off x="1590789" y="-1267046"/>
            <a:ext cx="656216" cy="3837793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15" name="Заголовок 1"/>
          <p:cNvSpPr/>
          <p:nvPr/>
        </p:nvSpPr>
        <p:spPr bwMode="auto">
          <a:xfrm>
            <a:off x="53788" y="481749"/>
            <a:ext cx="3837792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КАРТОЧКА ПРОЕКТА</a:t>
            </a:r>
            <a:endParaRPr/>
          </a:p>
        </p:txBody>
      </p:sp>
      <p:grpSp>
        <p:nvGrpSpPr>
          <p:cNvPr id="3" name="Группа 2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2" name="Овал 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7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02" name="Таблица 902"/>
          <p:cNvGraphicFramePr>
            <a:graphicFrameLocks noGrp="1"/>
          </p:cNvGraphicFramePr>
          <p:nvPr/>
        </p:nvGraphicFramePr>
        <p:xfrm>
          <a:off x="265176" y="960120"/>
          <a:ext cx="11704320" cy="2496312"/>
        </p:xfrm>
        <a:graphic>
          <a:graphicData uri="http://schemas.openxmlformats.org/drawingml/2006/table">
            <a:tbl>
              <a:tblPr/>
              <a:tblGrid>
                <a:gridCol w="6355080"/>
                <a:gridCol w="210312"/>
                <a:gridCol w="5138928"/>
              </a:tblGrid>
              <a:tr h="2560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ВОВЛЕЧЁННЫЕ ЛИЦА И РАМКИ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ОБОСНОВАНИЕ ВЫБОРА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224028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Заказчики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Глава Благовещенского муниципального округа; заместители главы — головные по направлениям (УДС, Благоустройство, ЖКХ)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Владелец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уточняется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Руководитель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Г.Г., начальник отдела информационного обслуживания Финансового управления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Команда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«Лидеры перемен», 5 чел.: Уваров Г.Г. (капитан) · Вихрова А.В. (МБУ «Информационный центр») · Воронцова Д.С. (благоустройство, УЖКХ) · Комчадалова А.А. (архитектура и градостроительство) · Степаненко А.О. (советник главы)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Границы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 возникновения проблемы содержания территории округа — до подтверждённого устранения и оценки результата жителем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Периметр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округа: инициативные группы граждан, выявляющие проблемы на территории; приём сообщений, три направления с головными заместителями и подразделения-исполнители, Глава округа. Охват — 27 населённых пунктов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плановое выявление проблем не ведётся — проблема попадает в работу после обращения жителя; канала для сообщений от инициативных групп граждан не предусмотрено; весь объём обращений вручную распределяет Глава округа; срок рассмотрения — 30 календарных дней, единый для обращений любой сложности; распределение проблем по объектам возникновения не ведётся; связь с заявителем ограничена письменным ответом по итогам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Источник проблематики: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Ключевой риск: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устранение проблемы начинается после обращения жителя; срок рассмотрения не зависит от сложности обращения; повторные обращения об одном объекте исполняются как отдельные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Влияние на цели и задачи: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содержание территории округа; клиентоцентричность — федеральный проект «Государство для людей»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Тиражируемость: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процесс исполняется во всех муниципальных образованиях области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03" name="Таблица 903"/>
          <p:cNvGraphicFramePr>
            <a:graphicFrameLocks noGrp="1"/>
          </p:cNvGraphicFramePr>
          <p:nvPr/>
        </p:nvGraphicFramePr>
        <p:xfrm>
          <a:off x="347472" y="3529584"/>
          <a:ext cx="5029200" cy="3099816"/>
        </p:xfrm>
        <a:graphic>
          <a:graphicData uri="http://schemas.openxmlformats.org/drawingml/2006/table">
            <a:tbl>
              <a:tblPr/>
              <a:tblGrid>
                <a:gridCol w="2816352"/>
                <a:gridCol w="694944"/>
                <a:gridCol w="603504"/>
                <a:gridCol w="914400"/>
              </a:tblGrid>
              <a:tr h="246888">
                <a:tc gridSpan="4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ЦЕЛИ И ПЛАНОВЫЙ ЭФФЕКТ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Ед. изм.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Время протекания: возникновение проблемы → подтверждённое устранение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календ. дн.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 — 44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−50 %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Проблемы, выявленные до обращения жителя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50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Обращения граждан по благоустройству и ЖКХ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шт./мес.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−30 %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Трудозатраты на регистрацию сообщения и передачу исполнителю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мин.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 с установленным сроком исполнения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Заявки, исполненные в установленный срок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Закрытые заявки с подтверждением результата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Средняя оценка жителем результата, шкала 1–5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балл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04" name="Поле 904"/>
          <p:cNvSpPr txBox="1"/>
          <p:nvPr/>
        </p:nvSpPr>
        <p:spPr>
          <a:xfrm>
            <a:off x="347472" y="6665976"/>
            <a:ext cx="5029200" cy="3200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6C5CE0"/>
                </a:solidFill>
                <a:latin typeface="Onest Medium" pitchFamily="2" charset="-52"/>
              </a:rPr>
              <a:t xml:space="preserve">—  базовые значения уточняются в рамках хронометража, 24–31.08.2026</a:t>
            </a:r>
          </a:p>
        </p:txBody>
      </p:sp>
      <p:graphicFrame>
        <p:nvGraphicFramePr>
          <p:cNvPr id="905" name="Таблица 905"/>
          <p:cNvGraphicFramePr>
            <a:graphicFrameLocks noGrp="1"/>
          </p:cNvGraphicFramePr>
          <p:nvPr/>
        </p:nvGraphicFramePr>
        <p:xfrm>
          <a:off x="5641848" y="3529584"/>
          <a:ext cx="6428232" cy="3218688"/>
        </p:xfrm>
        <a:graphic>
          <a:graphicData uri="http://schemas.openxmlformats.org/drawingml/2006/table">
            <a:tbl>
              <a:tblPr/>
              <a:tblGrid>
                <a:gridCol w="4507992"/>
                <a:gridCol w="960120"/>
                <a:gridCol w="960120"/>
              </a:tblGrid>
              <a:tr h="246888">
                <a:tc gridSpan="3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4. КЛЮЧЕВЫЕ СОБЫТИЯ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Начало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Окончание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Старт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22.07.2026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Диагностика и целевое состояние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1.1. Разработка карты текущего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1.2. Сбор фактических данных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1.3. Разработка карты целевого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01.09.2026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1.4. Разработка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Реализация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2.1. Совещание по защите подходов внедрения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2.2. Внедрение мероприятий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Анализ результатов и закрытие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3.1. Мониторинг достигнутых результатов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25.09.2026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3.2. Оформление карты достигнутого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3.3. Разработка стандарта (норматива) и тиражирование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29.09.2026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3.4. Закрытие проекта (отчёт руководителю)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ТЕКУЩЕГО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2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6" name="Рисунок 90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147" y="960120"/>
            <a:ext cx="10503802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452283" y="-1128540"/>
            <a:ext cx="656216" cy="356078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АНАЛИЗ ПРОБЛЕМ</a:t>
            </a:r>
            <a:endParaRPr lang="ru-RU" sz="2400">
              <a:latin typeface="Onest Black"/>
            </a:endParaRPr>
          </a:p>
        </p:txBody>
      </p:sp>
      <p:grpSp>
        <p:nvGrpSpPr>
          <p:cNvPr id="9" name="Группа 8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0" name="Овал 9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1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3</a:t>
              </a:r>
              <a:endParaRPr lang="ru-RU" sz="2400">
                <a:latin typeface="Onest ExtraBold"/>
              </a:endParaRPr>
            </a:p>
          </p:txBody>
        </p:sp>
      </p:grpSp>
      <p:sp>
        <p:nvSpPr>
          <p:cNvPr id="907" name="Поле 907"/>
          <p:cNvSpPr txBox="1"/>
          <p:nvPr/>
        </p:nvSpPr>
        <p:spPr>
          <a:xfrm>
            <a:off x="8705088" y="960120"/>
            <a:ext cx="3218688" cy="5779008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C9C2EE"/>
            </a:solidFill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80"/>
              </a:spcAft>
              <a:buNone/>
            </a:pPr>
            <a:r>
              <a:rPr lang="ru-RU" sz="850" b="1" dirty="0">
                <a:solidFill>
                  <a:srgbClr val="6C5CE0"/>
                </a:solidFill>
                <a:latin typeface="Onest Black" pitchFamily="2" charset="-52"/>
              </a:rPr>
              <a:t xml:space="preserve">ВОСЕМЬ ВИДОВ ПОТЕРЬ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1. Перепроизводство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по каждому сообщению об одной проблеме заводится отдельная работа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2. Лишние движения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зона ответственности и история обращений ищутся вручную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3. Ненужная транспортировка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суть пересказывается по цепочке, детали теряются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4. Излишние запасы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очередь 2–8 сообщений, объём работы никому не виден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5. Избыточная обработка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одно сообщение переписывается трижды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6. Ожидание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ГЛАВНАЯ: до 14 дней проблема не выявлена и ещё до 30 — рассмотрение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7. Переделка и брак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фотофиксация устранения не предусмотрена — обращение поступает повторно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8. Неиспользование потенциала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сообщения инициативных групп в процесс не поступают; объём обращений распределяет Глава округа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700" b="0" dirty="0">
                <a:solidFill>
                  <a:srgbClr val="595959"/>
                </a:solidFill>
                <a:latin typeface="Onest Medium" pitchFamily="2" charset="-52"/>
              </a:rPr>
              <a:t xml:space="preserve">Классификация и порядок — обучающая презентация «Эффективного региона». Привязка к этапам — на карте текущего состояния.</a:t>
            </a:r>
          </a:p>
        </p:txBody>
      </p:sp>
      <p:pic>
        <p:nvPicPr>
          <p:cNvPr id="908" name="Рисунок 90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176" y="963994"/>
            <a:ext cx="8275320" cy="57712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7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ЦЕЛЕВОГО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1" name="Группа 10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2" name="Овал 1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3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4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9" name="Рисунок 90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516" y="960120"/>
            <a:ext cx="9981064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678193" y="-1354451"/>
            <a:ext cx="656216" cy="40126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ПЛАН МЕРОПРИЯТИЙ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6</a:t>
              </a:r>
              <a:endParaRPr/>
            </a:p>
          </p:txBody>
        </p:sp>
      </p:grpSp>
      <p:graphicFrame>
        <p:nvGraphicFramePr>
          <p:cNvPr id="910" name="Таблица 910"/>
          <p:cNvGraphicFramePr>
            <a:graphicFrameLocks noGrp="1"/>
          </p:cNvGraphicFramePr>
          <p:nvPr/>
        </p:nvGraphicFramePr>
        <p:xfrm>
          <a:off x="338328" y="1225296"/>
          <a:ext cx="11301984" cy="4864608"/>
        </p:xfrm>
        <a:graphic>
          <a:graphicData uri="http://schemas.openxmlformats.org/drawingml/2006/table">
            <a:tbl>
              <a:tblPr/>
              <a:tblGrid>
                <a:gridCol w="640080"/>
                <a:gridCol w="2651760"/>
                <a:gridCol w="3566160"/>
                <a:gridCol w="2249424"/>
                <a:gridCol w="2194560"/>
              </a:tblGrid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 п/п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Мероприятия по решению проблем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Ответственные исполнители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Срок выполнения мероприятий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Проблема выявляется только по жалобе жителя: планового обхода территории 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Инициативные группы граждан: получают роль в сервисе и подают заявки по итогам обхода территории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Степаненко А.О.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Воронцова Д.С.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Разрозненные каналы приёма, ручная 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Степаненко А.О.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12.09.2026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Ручное определение сути, адреса и ответственного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Вихрова А.В.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16.09.2026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Потеря сообщений при передаче, отсутствие учёта сроков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Воронцова Д.С.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14.09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Дублирование работ по повторным обращениям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Дедупликация по координатам и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15.09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Формальное закрытие, отсутствие обратной связи автору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Комчадалова А.А.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16.09 — 23.09.2026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1" name="Поле 911"/>
          <p:cNvSpPr txBox="1"/>
          <p:nvPr/>
        </p:nvSpPr>
        <p:spPr>
          <a:xfrm>
            <a:off x="338328" y="6263640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Ответственные — состав проектной команды по распоряжению администрации округа от 24.09.2026 № 534-р. Сроки внутри этапа «Внедрение мероприятий», 08.09 — 23.09.2026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6528" y="-1472785"/>
            <a:ext cx="656216" cy="424927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7</a:t>
              </a:r>
              <a:endParaRPr/>
            </a:p>
          </p:txBody>
        </p:sp>
      </p:grpSp>
      <p:graphicFrame>
        <p:nvGraphicFramePr>
          <p:cNvPr id="912" name="Таблица 912"/>
          <p:cNvGraphicFramePr>
            <a:graphicFrameLocks noGrp="1"/>
          </p:cNvGraphicFramePr>
          <p:nvPr/>
        </p:nvGraphicFramePr>
        <p:xfrm>
          <a:off x="237744" y="1490472"/>
          <a:ext cx="11576304" cy="4608576"/>
        </p:xfrm>
        <a:graphic>
          <a:graphicData uri="http://schemas.openxmlformats.org/drawingml/2006/table">
            <a:tbl>
              <a:tblPr/>
              <a:tblGrid>
                <a:gridCol w="704088"/>
                <a:gridCol w="4581144"/>
                <a:gridCol w="6291072"/>
              </a:tblGrid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РЕЗУЛЬТАТ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Инициативные группы граждан: получают роль в сервисе и подают заявки по итогам обхода территории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Проблема попадает в работу до обращения жителя; ресурс активных жителей включён в процесс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Регистрация без участия сотрудника, время регистрации — секунды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Категория, адрес и срочность определяются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Доведение до исполнителя без ручной передачи, срок на каждой заявке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Дедупликация по координатам и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Обращения об одной проблеме склеиваются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Оценка ≤ 2 автоматически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1149" y="-1467406"/>
            <a:ext cx="656216" cy="423851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8</a:t>
              </a:r>
              <a:endParaRPr/>
            </a:p>
          </p:txBody>
        </p:sp>
      </p:grpSp>
      <p:graphicFrame>
        <p:nvGraphicFramePr>
          <p:cNvPr id="913" name="Таблица 913"/>
          <p:cNvGraphicFramePr>
            <a:graphicFrameLocks noGrp="1"/>
          </p:cNvGraphicFramePr>
          <p:nvPr/>
        </p:nvGraphicFramePr>
        <p:xfrm>
          <a:off x="374904" y="1280160"/>
          <a:ext cx="11292840" cy="4526280"/>
        </p:xfrm>
        <a:graphic>
          <a:graphicData uri="http://schemas.openxmlformats.org/drawingml/2006/table">
            <a:tbl>
              <a:tblPr/>
              <a:tblGrid>
                <a:gridCol w="4270248"/>
                <a:gridCol w="1673352"/>
                <a:gridCol w="1673352"/>
                <a:gridCol w="1673352"/>
                <a:gridCol w="2002536"/>
              </a:tblGrid>
              <a:tr h="502920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ФАКТ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КОММЕНТАРИЙ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Время протекания процесса: от возникновения проблемы до подтверждённого устранения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 — 44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сокращение ≥ 50 %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календ. дн.; база — карта текущего состояния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проблем, выявленных до обращения жителя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50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заявки от инициативных групп в общем числе заявок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Количество обращений граждан по благоустройству и ЖКХ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снижение ≥ 30 %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шт./мес.; база — выгрузка из системы документооборота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Трудозатраты сотрудника на регистрацию одного сообщения и передачу исполнителю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мин. на одно сообщение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 с установленным сроком исполнения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срок ставится автоматически по категории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заявок, исполненных в установленный 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просрочка поднимается заму, затем Главе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 с фотофиксацией устранения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закрыть заявку без фото или отчёта нельзя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Средняя оценка жителем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измерялась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балл по шкале 1–5; оценка ≤ 2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4" name="Поле 914"/>
          <p:cNvSpPr txBox="1"/>
          <p:nvPr/>
        </p:nvSpPr>
        <p:spPr>
          <a:xfrm>
            <a:off x="374904" y="6035040"/>
            <a:ext cx="11338560" cy="73152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База заполняется по итогам хронометража (24–31.08), факт — по итогам мониторинга достигнутых результатов (24–25.09).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Экономический эффект в рублях за год и затраты на реализацию проекта рассчитываются на этапе анализа результатов.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88429" y="-2564686"/>
            <a:ext cx="656216" cy="643307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ДОСТИГНУТОГО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5</a:t>
              </a:r>
              <a:endParaRPr/>
            </a:p>
          </p:txBody>
        </p:sp>
      </p:grpSp>
      <p:pic>
        <p:nvPicPr>
          <p:cNvPr id="915" name="Рисунок 91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0842" y="960120"/>
            <a:ext cx="9836411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72294" y="-2548551"/>
            <a:ext cx="656216" cy="64008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2" name="Группа 1"/>
          <p:cNvGrpSpPr/>
          <p:nvPr/>
        </p:nvGrpSpPr>
        <p:grpSpPr bwMode="auto">
          <a:xfrm>
            <a:off x="334963" y="1306044"/>
            <a:ext cx="1387736" cy="594477"/>
            <a:chOff x="2355925" y="1796528"/>
            <a:chExt cx="1387736" cy="594477"/>
          </a:xfrm>
        </p:grpSpPr>
        <p:sp>
          <p:nvSpPr>
            <p:cNvPr id="7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2529839" y="1892796"/>
              <a:ext cx="1095487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б</a:t>
              </a:r>
              <a:r>
                <a:rPr lang="ru-RU" sz="2400">
                  <a:latin typeface="Onest Medium"/>
                </a:rPr>
                <a:t>ыло:</a:t>
              </a:r>
              <a:endParaRPr lang="ru-RU" sz="2400">
                <a:latin typeface="Onest Medium"/>
              </a:endParaRPr>
            </a:p>
          </p:txBody>
        </p:sp>
      </p:grp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9</a:t>
              </a:r>
              <a:endParaRPr/>
            </a:p>
          </p:txBody>
        </p:sp>
      </p:grpSp>
      <p:graphicFrame>
        <p:nvGraphicFramePr>
          <p:cNvPr id="916" name="Таблица 916"/>
          <p:cNvGraphicFramePr>
            <a:graphicFrameLocks noGrp="1"/>
          </p:cNvGraphicFramePr>
          <p:nvPr/>
        </p:nvGraphicFramePr>
        <p:xfrm>
          <a:off x="411480" y="1389888"/>
          <a:ext cx="11338560" cy="4727448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было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Выявление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только по жалобе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планового обхода территории нет; в сёлах округа проблема существует до месяца, прежде чем житель решится написать обращение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Кто сообщает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только заявитель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инициативные группы граждан и активные жители видят проблемы каждый день, но канала, чтобы передать их в работу, у них 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четыре разрозненных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личный приём, письменное заявление, социальные сети, платформа обратной связи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журнал входящих и карточка в системе документооборота, суть и адрес записываются в свободной форме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через первое лицо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ответственного заместителя определяет лично Глава округа — и для сложного вопроса, и для заявки о яме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30 календарных дней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один на любое обращение; о ходе работы житель не информируется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почтой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 недели сверх нормативного срока, в зависимости от населённого пункта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фотографии или акта об устранении нет ни у исполнителя, ни у руководителя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не выявляются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работа по одному объекту заводится и выполняется несколько раз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предварительный срез данных по обращениям занимает неделю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7" name="Поле 917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Время протекания процесса — от 10 до 44 календарных дней, из них до 14 дней проблема не выявлена. Очередь на разбор — 2–8 сообщений.</a:t>
            </a:r>
          </a:p>
        </p:txBody>
      </p:sp>
      <p:sp>
        <p:nvSpPr>
          <p:cNvPr id="918" name="Поле 918"/>
          <p:cNvSpPr txBox="1"/>
          <p:nvPr/>
        </p:nvSpPr>
        <p:spPr>
          <a:xfrm>
            <a:off x="411480" y="6291072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Сюда же — фотографии прежнего рабочего процесса: журнал регистрации, стол приёмной, стопка письменных заявлений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66914" y="-2543170"/>
            <a:ext cx="656216" cy="639004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10</a:t>
              </a:r>
              <a:endParaRPr lang="ru-RU" sz="2400">
                <a:latin typeface="Onest ExtraBold"/>
              </a:endParaRPr>
            </a:p>
          </p:txBody>
        </p:sp>
      </p:grpSp>
      <p:grpSp>
        <p:nvGrpSpPr>
          <p:cNvPr id="10" name="Группа 9"/>
          <p:cNvGrpSpPr/>
          <p:nvPr/>
        </p:nvGrpSpPr>
        <p:grpSpPr bwMode="auto">
          <a:xfrm>
            <a:off x="334963" y="1306045"/>
            <a:ext cx="1387736" cy="594477"/>
            <a:chOff x="2355925" y="1796528"/>
            <a:chExt cx="1387736" cy="594477"/>
          </a:xfrm>
        </p:grpSpPr>
        <p:sp>
          <p:nvSpPr>
            <p:cNvPr id="11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12" name="Заголовок 1"/>
            <p:cNvSpPr/>
            <p:nvPr/>
          </p:nvSpPr>
          <p:spPr bwMode="auto">
            <a:xfrm>
              <a:off x="2497566" y="1892796"/>
              <a:ext cx="1213821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с</a:t>
              </a:r>
              <a:r>
                <a:rPr lang="ru-RU" sz="2400">
                  <a:latin typeface="Onest Medium"/>
                </a:rPr>
                <a:t>тало:</a:t>
              </a:r>
              <a:endParaRPr lang="ru-RU" sz="2400">
                <a:latin typeface="Onest Medium"/>
              </a:endParaRPr>
            </a:p>
          </p:txBody>
        </p:sp>
      </p:grpSp>
      <p:graphicFrame>
        <p:nvGraphicFramePr>
          <p:cNvPr id="919" name="Таблица 919"/>
          <p:cNvGraphicFramePr>
            <a:graphicFrameLocks noGrp="1"/>
          </p:cNvGraphicFramePr>
          <p:nvPr/>
        </p:nvGraphicFramePr>
        <p:xfrm>
          <a:off x="411480" y="1389888"/>
          <a:ext cx="11338560" cy="4727448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стало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Выявление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плановое, до жалобы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инициативные группы обходят закреплённую территорию и подают заявки сами; обращение жителя перестаёт быть единственным входом в процесс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Кто сообщает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инициативные группы и жители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инициативные группы граждан и жители, чаще других сообщавшие о проблемах, получают роль в сервисе — отдельной системы не требуется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один цифровой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мессенджер MAX: текст, фотография и геометка в одном сообщении; архитектура канально-независимая, подключение других каналов не требует переделки ядра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автоматическая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искусственный интеллект определяет категорию, адрес и срочность; 18 категорий в трёх направлениях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цепочке ответственных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без участия первого лица; Глава округа подключается только при эскалации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категории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таймер на каждой заявке; просрочка поднимается заму направления, затем Главе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мессенджер сразу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уведомление о каждом изменении статуса, «до и после» с фотографией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обязательно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закрыть заявку без фотографии или отчёта нельзя; автор заявки ставит оценку от 1 до 5, оценка ≤ 2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объединяются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дедупликация по координатам — 100 м за 14 дней — и по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реальном времени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сроки, нагрузка и статистика по направлениям в панели администрации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0" name="Поле 920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Расчётное время протекания процесса — от 1 до 17 дней против 10–44. Очередь на разбор — ноль. Охват — 27 населённых пунктов.</a:t>
            </a:r>
          </a:p>
        </p:txBody>
      </p:sp>
      <p:sp>
        <p:nvSpPr>
          <p:cNvPr id="921" name="Поле 921"/>
          <p:cNvSpPr txBox="1"/>
          <p:nvPr/>
        </p:nvSpPr>
        <p:spPr>
          <a:xfrm>
            <a:off x="411480" y="6291072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Сюда же — обезличенные экраны бота и панели администрации крупными фрагментами и диаграммы эффекта после мониторинга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087447" y="-2763704"/>
            <a:ext cx="656216" cy="6831107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Стандарты и нормативы</a:t>
            </a:r>
            <a:endParaRPr lang="ru-RU" sz="2400">
              <a:latin typeface="Onest Black"/>
            </a:endParaRPr>
          </a:p>
        </p:txBody>
      </p:sp>
      <p:grpSp>
        <p:nvGrpSpPr>
          <p:cNvPr id="10" name="Группа 9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4" name="Овал 13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5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22" name="Таблица 922"/>
          <p:cNvGraphicFramePr>
            <a:graphicFrameLocks noGrp="1"/>
          </p:cNvGraphicFramePr>
          <p:nvPr/>
        </p:nvGraphicFramePr>
        <p:xfrm>
          <a:off x="411480" y="1536192"/>
          <a:ext cx="11338560" cy="2743200"/>
        </p:xfrm>
        <a:graphic>
          <a:graphicData uri="http://schemas.openxmlformats.org/drawingml/2006/table">
            <a:tbl>
              <a:tblPr/>
              <a:tblGrid>
                <a:gridCol w="3520440"/>
                <a:gridCol w="617220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Документ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 закрепляет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Состояние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Распоряжение администрации округа от 24.09.2026 № 534-р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Открывает проект, закрепляет состав команды и сроки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подписано Главой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Одиннадцать разделов: роли и права, каналы приёма, классификация, дедупликация, маршрутизация и сроки, закрытие и подтверждение результата, эскалация, особые случаи, контроль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разработан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Памятки по ролям, приложение к регламенту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Шесть памяток: житель, участник инициативной группы, исполнитель, руководитель направления, глава округа, оператор панели — раздаются самой панелью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применяются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Числовые параметры процесса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Сроки, радиус и период объединения заявок, автоподтверждение — приложением к регламенту, меняются без его переиздания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закреплены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3" name="Поле 923"/>
          <p:cNvSpPr txBox="1"/>
          <p:nvPr/>
        </p:nvSpPr>
        <p:spPr>
          <a:xfrm>
            <a:off x="411480" y="1051560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Стандартизация результата — обязательное требование методики: улучшение должно быть закреплено документом, который применяется.</a:t>
            </a:r>
          </a:p>
        </p:txBody>
      </p:sp>
      <p:sp>
        <p:nvSpPr>
          <p:cNvPr id="924" name="Поле 924"/>
          <p:cNvSpPr txBox="1"/>
          <p:nvPr/>
        </p:nvSpPr>
        <p:spPr>
          <a:xfrm>
            <a:off x="411480" y="4498848"/>
            <a:ext cx="11338560" cy="329184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1" dirty="0">
                <a:solidFill>
                  <a:srgbClr val="6C5CE0"/>
                </a:solidFill>
                <a:latin typeface="Onest Black" pitchFamily="2" charset="-52"/>
              </a:rPr>
              <a:t xml:space="preserve">ИНСТРУМЕНТЫ БЕРЕЖЛИВОГО УПРАВЛЕНИЯ, ПРИМЕНЁННЫЕ В ПРОЕКТЕ — десять при пороге в пять</a:t>
            </a:r>
          </a:p>
        </p:txBody>
      </p:sp>
      <p:sp>
        <p:nvSpPr>
          <p:cNvPr id="925" name="Поле 925"/>
          <p:cNvSpPr txBox="1"/>
          <p:nvPr/>
        </p:nvSpPr>
        <p:spPr>
          <a:xfrm>
            <a:off x="411480" y="4864608"/>
            <a:ext cx="5559552" cy="1554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1. Картирование процесса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три карты: текущее, целевое, достигнутое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2. Хронометраж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длительности этапов, лист гембы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3. Гемба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обход процесса на месте, потери подтверждены наблюдением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4. «Пять почему»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цепочка до коренной причины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5. Диаграмма Исикавы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13 факторов по пяти категориям</a:t>
            </a:r>
          </a:p>
        </p:txBody>
      </p:sp>
      <p:sp>
        <p:nvSpPr>
          <p:cNvPr id="926" name="Поле 926"/>
          <p:cNvSpPr txBox="1"/>
          <p:nvPr/>
        </p:nvSpPr>
        <p:spPr>
          <a:xfrm>
            <a:off x="6190488" y="4864608"/>
            <a:ext cx="5559552" cy="1554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6. Голос клиента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оценка жителя 1–5, оценка ≤ 2 возвращает заявку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7. Визуализация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панель: статусы, сроки, карта заявок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8. Канбан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доска заявок по статусам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9. Стандартизация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регламент процесса и памятки по ролям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10. Защита от ошибок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закрыть без фото нельзя; сквозная дедупликация</a:t>
            </a:r>
          </a:p>
        </p:txBody>
      </p:sp>
      <p:sp>
        <p:nvSpPr>
          <p:cNvPr id="927" name="Поле 927"/>
          <p:cNvSpPr txBox="1"/>
          <p:nvPr/>
        </p:nvSpPr>
        <p:spPr>
          <a:xfrm>
            <a:off x="411480" y="6419088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00" b="0" dirty="0">
                <a:solidFill>
                  <a:srgbClr val="6C5CE0"/>
                </a:solidFill>
                <a:latin typeface="Onest Medium" pitchFamily="2" charset="-52"/>
              </a:rPr>
              <a:t xml:space="preserve">Сканы утверждённых документов со ссылками или QR-кодами прикладываются к этому слайду перед сдачей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335379" y="-3011636"/>
            <a:ext cx="977933" cy="7648689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Дополнительная информация </a:t>
            </a:r>
            <a:endParaRPr/>
          </a:p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о проекте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12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" name="Таблица 8"/>
          <p:cNvGraphicFramePr>
            <a:graphicFrameLocks xmlns:a="http://schemas.openxmlformats.org/drawingml/2006/main" noGrp="1"/>
          </p:cNvGraphicFramePr>
          <p:nvPr/>
        </p:nvGraphicFramePr>
        <p:xfrm>
          <a:off x="652190" y="2005502"/>
          <a:ext cx="10693529" cy="39600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743648"/>
                <a:gridCol w="3566403"/>
                <a:gridCol w="6383478"/>
              </a:tblGrid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Наличие публикации о реализации проекта (соц.сети оив, местные, федеральные СМИ) - ссылка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—  готовится публикация о проекте на сайте округа и в социальных сетях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Масштабность проекта (в процессе задействованы (структурные подразделения ОИВ, иные ОИВ и подведомственные учреждения)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Благовещенского муниципального округа: инициативные группы граждан, выявляющие проблемы на территории; подразделение приёма сообщений, три направления с головными заместителями, подразделения-исполнители, Глава округа. Охват — 27 населённых пунктов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Источники проблематики при выборе темы проекта (обращения граждан, соц. значимость, межведомственное взаимодействие и т.д.)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Стандартизация результатов проекта (стандарт, регламент, алгоритм и т.д.) </a:t>
                      </a:r>
                      <a:endParaRPr/>
                    </a:p>
                    <a:p>
                      <a:pPr>
                        <a:defRPr/>
                      </a:pPr>
                      <a:endParaRPr lang="ru-RU" sz="1100">
                        <a:solidFill>
                          <a:schemeClr val="tx1"/>
                        </a:solidFill>
                        <a:latin typeface="Onest ExtraBold"/>
                        <a:ea typeface="+mn-ea"/>
                        <a:cs typeface="+mn-cs"/>
                      </a:endParaRP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 — одиннадцать разделов — и памятки по ролям для шести ролей процесса; памятки раздаёт сама панель администрации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4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Реализация проекта с помощью цифровых решений 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Собственная разработка нового цифрового решения: сервис приёма сообщений «Точка перемен» в мессенджере MAX, ИИ-классификация обращений, автоматическая маршрутизация, контроль сроков, панель администрации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824055" y="2235512"/>
            <a:ext cx="360401" cy="360401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824055" y="3060849"/>
            <a:ext cx="395960" cy="39596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795801" y="3765144"/>
            <a:ext cx="440717" cy="440717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795802" y="4612028"/>
            <a:ext cx="403378" cy="403378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8"/>
          <a:stretch/>
        </p:blipFill>
        <p:spPr bwMode="auto">
          <a:xfrm>
            <a:off x="817291" y="5389433"/>
            <a:ext cx="409086" cy="409086"/>
          </a:xfrm>
          <a:prstGeom prst="rect">
            <a:avLst/>
          </a:prstGeom>
        </p:spPr>
      </p:pic>
      <p:sp>
        <p:nvSpPr>
          <p:cNvPr id="928" name="Поле 928"/>
          <p:cNvSpPr txBox="1"/>
          <p:nvPr/>
        </p:nvSpPr>
        <p:spPr>
          <a:xfrm>
            <a:off x="384048" y="5321808"/>
            <a:ext cx="11420856" cy="132588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C9C2EE"/>
            </a:solidFill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4000"/>
              </a:lnSpc>
              <a:spcAft>
                <a:spcPts val="220"/>
              </a:spcAft>
              <a:buNone/>
            </a:pPr>
            <a:r>
              <a:rPr lang="ru-RU" sz="880" b="1" dirty="0">
                <a:solidFill>
                  <a:srgbClr val="6C5CE0"/>
                </a:solidFill>
                <a:latin typeface="Onest Black" pitchFamily="2" charset="-52"/>
              </a:rPr>
              <a:t xml:space="preserve">ОБУЧЕНИЕ КОМАНДЫ ПРОЕКТА. 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Команда «Лидеры перемен», 5 человек — курс «Как внедрить инструменты бережливого производства в свою работу» Мастерской управления «Сенеж», платформа «Россия — страна возможностей». </a:t>
            </a: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Обучение прошли все пятеро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; сертификаты прилагаются к справке проекта.</a:t>
            </a:r>
          </a:p>
          <a:p>
            <a:pPr algn="l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80" b="1" dirty="0">
                <a:solidFill>
                  <a:srgbClr val="6C5CE0"/>
                </a:solidFill>
                <a:latin typeface="Onest Black" pitchFamily="2" charset="-52"/>
              </a:rPr>
              <a:t xml:space="preserve">АКТУАЛЬНОСТЬ ПРОЕКТА. 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Содержание территории — то, что жители видят каждый день; охват 27 населённых пунктов округа, большинство — сёла, где канала обращения фактически не было. Проект отвечает клиентоцентричности федерального проекта «Государство для людей» и практике платформы обратной связи. Процесс исполняется во всех муниципальных образованиях области.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666998" y="-2666999"/>
            <a:ext cx="6858002" cy="12191999"/>
          </a:xfrm>
          <a:prstGeom prst="round2SameRect">
            <a:avLst>
              <a:gd name="adj1" fmla="val 0"/>
              <a:gd name="adj2" fmla="val 0"/>
            </a:avLst>
          </a:prstGeom>
          <a:blipFill>
            <a:blip r:embed="rId2">
              <a:alphaModFix amt="56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endParaRPr lang="ru-RU" sz="2400">
              <a:latin typeface="Onest Black"/>
            </a:endParaRPr>
          </a:p>
        </p:txBody>
      </p:sp>
      <p:sp>
        <p:nvSpPr>
          <p:cNvPr id="6" name="TextBox 5"/>
          <p:cNvSpPr txBox="1"/>
          <p:nvPr/>
        </p:nvSpPr>
        <p:spPr bwMode="auto">
          <a:xfrm>
            <a:off x="1753652" y="3008978"/>
            <a:ext cx="8684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2400">
                <a:latin typeface="Onest Black"/>
              </a:rPr>
              <a:t>СПАСИБО ЗА ВНИМАНИЕ!</a:t>
            </a:r>
            <a:endParaRPr lang="ru-RU" sz="2400">
              <a:latin typeface="Onest Black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Глазами жителя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13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29" name="Рисунок 92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2317" y="1207008"/>
            <a:ext cx="1860842" cy="4041648"/>
          </a:xfrm>
          <a:prstGeom prst="rect">
            <a:avLst/>
          </a:prstGeom>
        </p:spPr>
      </p:pic>
      <p:sp>
        <p:nvSpPr>
          <p:cNvPr id="930" name="Поле 930"/>
          <p:cNvSpPr txBox="1"/>
          <p:nvPr/>
        </p:nvSpPr>
        <p:spPr>
          <a:xfrm>
            <a:off x="2763717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Меню сервиса: бот объясняет, что и как приложить</a:t>
            </a:r>
          </a:p>
        </p:txBody>
      </p:sp>
      <p:pic>
        <p:nvPicPr>
          <p:cNvPr id="931" name="Рисунок 93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4055" y="1207008"/>
            <a:ext cx="1860842" cy="4041648"/>
          </a:xfrm>
          <a:prstGeom prst="rect">
            <a:avLst/>
          </a:prstGeom>
        </p:spPr>
      </p:pic>
      <p:sp>
        <p:nvSpPr>
          <p:cNvPr id="932" name="Поле 932"/>
          <p:cNvSpPr txBox="1"/>
          <p:nvPr/>
        </p:nvSpPr>
        <p:spPr>
          <a:xfrm>
            <a:off x="4935455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Черновик перед отправкой: текст, геометка, четыре фотографии</a:t>
            </a:r>
          </a:p>
        </p:txBody>
      </p:sp>
      <p:pic>
        <p:nvPicPr>
          <p:cNvPr id="933" name="Рисунок 93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35793" y="1207008"/>
            <a:ext cx="1860842" cy="4041648"/>
          </a:xfrm>
          <a:prstGeom prst="rect">
            <a:avLst/>
          </a:prstGeom>
        </p:spPr>
      </p:pic>
      <p:sp>
        <p:nvSpPr>
          <p:cNvPr id="934" name="Поле 934"/>
          <p:cNvSpPr txBox="1"/>
          <p:nvPr/>
        </p:nvSpPr>
        <p:spPr>
          <a:xfrm>
            <a:off x="7107193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Заявка принята: номер, категория и срочность определены автоматически</a:t>
            </a:r>
          </a:p>
        </p:txBody>
      </p:sp>
      <p:sp>
        <p:nvSpPr>
          <p:cNvPr id="935" name="Поле 935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Заявка подаётся в мессенджере за три шага. Категорию, адрес и срочность сервис определяет сам — житель просто описывает проблему своими словами и прикладывает фотографии.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У исполнителя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14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36" name="Рисунок 9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8186" y="1207008"/>
            <a:ext cx="1860842" cy="4041648"/>
          </a:xfrm>
          <a:prstGeom prst="rect">
            <a:avLst/>
          </a:prstGeom>
        </p:spPr>
      </p:pic>
      <p:sp>
        <p:nvSpPr>
          <p:cNvPr id="937" name="Поле 937"/>
          <p:cNvSpPr txBox="1"/>
          <p:nvPr/>
        </p:nvSpPr>
        <p:spPr>
          <a:xfrm>
            <a:off x="3849586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Карточка заявки: категория, срочность, адрес и кнопки ответа</a:t>
            </a:r>
          </a:p>
        </p:txBody>
      </p:sp>
      <p:pic>
        <p:nvPicPr>
          <p:cNvPr id="938" name="Рисунок 93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9924" y="1207008"/>
            <a:ext cx="1860842" cy="4041648"/>
          </a:xfrm>
          <a:prstGeom prst="rect">
            <a:avLst/>
          </a:prstGeom>
        </p:spPr>
      </p:pic>
      <p:sp>
        <p:nvSpPr>
          <p:cNvPr id="939" name="Поле 939"/>
          <p:cNvSpPr txBox="1"/>
          <p:nvPr/>
        </p:nvSpPr>
        <p:spPr>
          <a:xfrm>
            <a:off x="6021324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Фотографии заявителя и уведомление о назначении</a:t>
            </a:r>
          </a:p>
        </p:txBody>
      </p:sp>
      <p:sp>
        <p:nvSpPr>
          <p:cNvPr id="940" name="Поле 940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Маршрут назначается по цепочке ответственных, без резолюции первого лица. Исполнитель получает заявку с готовой категорией, адресом, фотографиями и сроком — и отвечает одним нажатием.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Результат жителю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15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41" name="Рисунок 94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8186" y="1207008"/>
            <a:ext cx="1860842" cy="4041648"/>
          </a:xfrm>
          <a:prstGeom prst="rect">
            <a:avLst/>
          </a:prstGeom>
        </p:spPr>
      </p:pic>
      <p:sp>
        <p:nvSpPr>
          <p:cNvPr id="942" name="Поле 942"/>
          <p:cNvSpPr txBox="1"/>
          <p:nvPr/>
        </p:nvSpPr>
        <p:spPr>
          <a:xfrm>
            <a:off x="3849586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Фотография результата и кнопки «Подтверждаю» / «Не решено»</a:t>
            </a:r>
          </a:p>
        </p:txBody>
      </p:sp>
      <p:pic>
        <p:nvPicPr>
          <p:cNvPr id="943" name="Рисунок 94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9924" y="1207008"/>
            <a:ext cx="1860842" cy="4041648"/>
          </a:xfrm>
          <a:prstGeom prst="rect">
            <a:avLst/>
          </a:prstGeom>
        </p:spPr>
      </p:pic>
      <p:sp>
        <p:nvSpPr>
          <p:cNvPr id="944" name="Поле 944"/>
          <p:cNvSpPr txBox="1"/>
          <p:nvPr/>
        </p:nvSpPr>
        <p:spPr>
          <a:xfrm>
            <a:off x="6021324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Заявка закрыта, оценка по шкале 1–5 учтена</a:t>
            </a:r>
          </a:p>
        </p:txBody>
      </p:sp>
      <p:sp>
        <p:nvSpPr>
          <p:cNvPr id="945" name="Поле 945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Закрыть заявку без фотографии результата нельзя. Житель видит, что сделано, подтверждает решение и ставит оценку — её видит руководство округа. Оценка два и ниже автоматически возвращает заявку в работу.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Панель округа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16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46" name="Рисунок 94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2366153"/>
            <a:ext cx="3581400" cy="1723357"/>
          </a:xfrm>
          <a:prstGeom prst="rect">
            <a:avLst/>
          </a:prstGeom>
        </p:spPr>
      </p:pic>
      <p:sp>
        <p:nvSpPr>
          <p:cNvPr id="947" name="Поле 947"/>
          <p:cNvSpPr txBox="1"/>
          <p:nvPr/>
        </p:nvSpPr>
        <p:spPr>
          <a:xfrm>
            <a:off x="182880" y="4559350"/>
            <a:ext cx="4038600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Карта заявок по округу: статус каждой видно цветом</a:t>
            </a:r>
          </a:p>
        </p:txBody>
      </p:sp>
      <p:pic>
        <p:nvPicPr>
          <p:cNvPr id="948" name="Рисунок 94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03776" y="2351796"/>
            <a:ext cx="3581400" cy="1752073"/>
          </a:xfrm>
          <a:prstGeom prst="rect">
            <a:avLst/>
          </a:prstGeom>
        </p:spPr>
      </p:pic>
      <p:sp>
        <p:nvSpPr>
          <p:cNvPr id="949" name="Поле 949"/>
          <p:cNvSpPr txBox="1"/>
          <p:nvPr/>
        </p:nvSpPr>
        <p:spPr>
          <a:xfrm>
            <a:off x="4075176" y="4559350"/>
            <a:ext cx="4038600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Статистика и плотность проблем: где обращаются чаще</a:t>
            </a:r>
          </a:p>
        </p:txBody>
      </p:sp>
      <p:pic>
        <p:nvPicPr>
          <p:cNvPr id="950" name="Рисунок 95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6072" y="1969466"/>
            <a:ext cx="3581400" cy="2516733"/>
          </a:xfrm>
          <a:prstGeom prst="rect">
            <a:avLst/>
          </a:prstGeom>
        </p:spPr>
      </p:pic>
      <p:sp>
        <p:nvSpPr>
          <p:cNvPr id="951" name="Поле 951"/>
          <p:cNvSpPr txBox="1"/>
          <p:nvPr/>
        </p:nvSpPr>
        <p:spPr>
          <a:xfrm>
            <a:off x="7967472" y="4559350"/>
            <a:ext cx="4038600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Карточка заявки: фото «до» и «после», оценка жителя, журнал событий</a:t>
            </a:r>
          </a:p>
        </p:txBody>
      </p:sp>
      <p:sp>
        <p:nvSpPr>
          <p:cNvPr id="952" name="Поле 952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Руководитель видит процесс целиком и в реальном времени: где проблемы, кто их ведёт, что просрочено. Прежде сводка собиралась вручную и занимала до недели.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Было и стало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17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53" name="Рисунок 95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4055" y="1207008"/>
            <a:ext cx="1860842" cy="4041648"/>
          </a:xfrm>
          <a:prstGeom prst="rect">
            <a:avLst/>
          </a:prstGeom>
        </p:spPr>
      </p:pic>
      <p:sp>
        <p:nvSpPr>
          <p:cNvPr id="954" name="Поле 954"/>
          <p:cNvSpPr txBox="1"/>
          <p:nvPr/>
        </p:nvSpPr>
        <p:spPr>
          <a:xfrm>
            <a:off x="4935455" y="5321808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Стало: заявка пришла исполнителю с готовой категорией, адресом и сроком</a:t>
            </a:r>
          </a:p>
        </p:txBody>
      </p:sp>
      <p:sp>
        <p:nvSpPr>
          <p:cNvPr id="955" name="Поле 955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Одна и та же операция — приём сообщения и назначение исполнителя — до проекта и после. Слева ручная работа, справа она же без участия сотрудника.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Обучение команды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18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56" name="Рисунок 95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9323" y="1143000"/>
            <a:ext cx="3190533" cy="2253996"/>
          </a:xfrm>
          <a:prstGeom prst="rect">
            <a:avLst/>
          </a:prstGeom>
        </p:spPr>
      </p:pic>
      <p:pic>
        <p:nvPicPr>
          <p:cNvPr id="957" name="Рисунок 95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9097" y="1143000"/>
            <a:ext cx="3190533" cy="2253996"/>
          </a:xfrm>
          <a:prstGeom prst="rect">
            <a:avLst/>
          </a:prstGeom>
        </p:spPr>
      </p:pic>
      <p:pic>
        <p:nvPicPr>
          <p:cNvPr id="958" name="Рисунок 95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323" y="3598164"/>
            <a:ext cx="3190533" cy="2253996"/>
          </a:xfrm>
          <a:prstGeom prst="rect">
            <a:avLst/>
          </a:prstGeom>
        </p:spPr>
      </p:pic>
      <p:pic>
        <p:nvPicPr>
          <p:cNvPr id="959" name="Рисунок 959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39097" y="3598164"/>
            <a:ext cx="3190533" cy="2253996"/>
          </a:xfrm>
          <a:prstGeom prst="rect">
            <a:avLst/>
          </a:prstGeom>
        </p:spPr>
      </p:pic>
      <p:sp>
        <p:nvSpPr>
          <p:cNvPr id="960" name="Поле 960"/>
          <p:cNvSpPr txBox="1"/>
          <p:nvPr/>
        </p:nvSpPr>
        <p:spPr>
          <a:xfrm>
            <a:off x="411480" y="5989320"/>
            <a:ext cx="11338560" cy="5486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Онлайн-курс «Как внедрить инструменты бережливого производства в свою работу» Мастерской управления «Сенеж» президентской платформы «Россия — страна возможностей». Обучение прошли все пять членов команды; сертификаты прилагаются к справке проекта.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Liberation Sans"/>
        <a:cs typeface="Liberation Sans"/>
      </a:majorFont>
      <a:minorFont>
        <a:latin typeface="Calibri"/>
        <a:ea typeface="Liberation Sans"/>
        <a:cs typeface="Liberation Sans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Р7-Офис/2025.3.2.1000</Application>
  <DocSecurity>0</DocSecurity>
  <PresentationFormat>Широкоэкранный</PresentationFormat>
  <Paragraphs>0</Paragraphs>
  <Slides>14</Slides>
  <Notes>14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Надежда Вячеславовна Гребенюк</dc:creator>
  <cp:keywords/>
  <dc:description/>
  <dc:identifier/>
  <dc:language/>
  <cp:lastModifiedBy>adelina.aksenova</cp:lastModifiedBy>
  <cp:revision>86</cp:revision>
  <dcterms:created xsi:type="dcterms:W3CDTF">2024-11-14T01:51:24Z</dcterms:created>
  <dcterms:modified xsi:type="dcterms:W3CDTF">2026-09-15T07:22:29Z</dcterms:modified>
  <cp:category/>
  <cp:contentStatus/>
  <cp:version/>
</cp:coreProperties>
</file>