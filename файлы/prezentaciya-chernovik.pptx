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Оптимизация процесса приёма, маршрутизации и контроля исполнения сообщений граждан о проблемах благоустройства и жизнеобеспечения на территории Благовещенского муниципального округа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приём сообщений, четыре направления, подразделения-исполнители, Глава округа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поступления сообщения гражданина о проблеме благоустройства или жизнеобеспечения — до подтверждения гражданином устранения и выставления оценки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сообщения граждан поступают по разрозненным каналам — телефон приёмной, личный приём, письменные заявления, социальные сети. Регистрация, определение сути и адреса, поиск ответственного и передача поручения выполняются вручную; единый учёт сроков отсутствует, результат гражданину не сообщается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потеря и «зависание» сообщений при отсутствии сквозного учёта: нарушение сроков устранения, рост повторных и вышестоящих обращений, снижение доверия жителей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удовлетворённость жителей содержанием территории; клиентоцентричность по федеральному проекту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типовой для муниципальных образований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2770632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процесса: сообщение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раб.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гражданином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 об одной и той же проблеме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336792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2376" y="960120"/>
            <a:ext cx="959334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Восемь видов потерь, выявленных в процессе. Классификация и порядок — официальные, по методике бережливого управления.</a:t>
            </a:r>
          </a:p>
        </p:txBody>
      </p:sp>
      <p:graphicFrame>
        <p:nvGraphicFramePr>
          <p:cNvPr id="908" name="Таблица 908"/>
          <p:cNvGraphicFramePr>
            <a:graphicFrameLocks noGrp="1"/>
          </p:cNvGraphicFramePr>
          <p:nvPr/>
        </p:nvGraphicFramePr>
        <p:xfrm>
          <a:off x="502920" y="1481328"/>
          <a:ext cx="11155680" cy="4608576"/>
        </p:xfrm>
        <a:graphic>
          <a:graphicData uri="http://schemas.openxmlformats.org/drawingml/2006/table">
            <a:tbl>
              <a:tblPr/>
              <a:tblGrid>
                <a:gridCol w="3246120"/>
                <a:gridCol w="7909560"/>
              </a:tblGrid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Вид потери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проявляется в процессе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 Перепроизводство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Несколько граждан сообщают об одной проблеме — по каждому заводится отдельная работа и отдельно выезжает исполнитель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 Лишние движения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Сотрудник вручную ищет, чья это зона ответственности, и поднимает историю прежних обращений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 Ненужная транспортировка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Суть пересказывается по цепочке: гражданин → приёмная → записка или звонок → исполнитель, с потерей деталей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4. Излишние запасы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Необработанные сообщения копятся в разных каналах и на разных столах, объём очереди никому не виден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5. Избыточная обработка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Одно сообщение переписывается трижды: в журнал, исполнителю, в 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6. Ожидание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Сообщение ждёт ручной регистрации и передачи; исполнение идёт без установленного срока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7. Переделка и брак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 без результата — гражданин обращается повторно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8. Неиспользование человеческого потенциала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Квалифицированный сотрудник занят механической регистрацией и диспетчеризацией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9" name="Поле 909"/>
          <p:cNvSpPr txBox="1"/>
          <p:nvPr/>
        </p:nvSpPr>
        <p:spPr>
          <a:xfrm>
            <a:off x="502920" y="6355080"/>
            <a:ext cx="1115568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Корневые причины — метод «5 почему» и диаграмма Исикавы — готовятся к 31.08.2026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10" name="Рисунок 9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2926" y="960120"/>
            <a:ext cx="9552243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338328" y="1280160"/>
          <a:ext cx="11301984" cy="504748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гражданину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2" name="Поле 912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об инициировании проекта.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237744" y="1581912"/>
          <a:ext cx="11576304" cy="4279392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4" name="Таблица 914"/>
          <p:cNvGraphicFramePr>
            <a:graphicFrameLocks noGrp="1"/>
          </p:cNvGraphicFramePr>
          <p:nvPr/>
        </p:nvGraphicFramePr>
        <p:xfrm>
          <a:off x="374904" y="1325880"/>
          <a:ext cx="11292840" cy="4535424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6692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сообщения гражданина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7 — 30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гражданином результата отработки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повторных обращений об одной и той же проблеме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дедупликация: 100 м за 14 дней и по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5" name="Поле 915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sp>
        <p:nvSpPr>
          <p:cNvPr id="916" name="Поле 916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Карта достигнутого состояния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Строится как карта текущего состояния, но без проблем и мероприятий — проверка того, что целевое состояние достигнуто.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Внизу — фактическое ВПП после внедрения, для сравнения с исходным.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Готовится 28.09.2026, после мониторинга достигнутых результатов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7" name="Таблица 917"/>
          <p:cNvGraphicFramePr>
            <a:graphicFrameLocks noGrp="1"/>
          </p:cNvGraphicFramePr>
          <p:nvPr/>
        </p:nvGraphicFramePr>
        <p:xfrm>
          <a:off x="411480" y="1444752"/>
          <a:ext cx="11338560" cy="4526280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гражданин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8" name="Поле 918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7 до 30 календарных дней. В очереди на разбор постоянно 2–8 сообщений.</a:t>
            </a:r>
          </a:p>
        </p:txBody>
      </p:sp>
      <p:sp>
        <p:nvSpPr>
          <p:cNvPr id="919" name="Поле 919"/>
          <p:cNvSpPr txBox="1"/>
          <p:nvPr/>
        </p:nvSpPr>
        <p:spPr>
          <a:xfrm>
            <a:off x="411480" y="614476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20" name="Таблица 920"/>
          <p:cNvGraphicFramePr>
            <a:graphicFrameLocks noGrp="1"/>
          </p:cNvGraphicFramePr>
          <p:nvPr/>
        </p:nvGraphicFramePr>
        <p:xfrm>
          <a:off x="411480" y="1444752"/>
          <a:ext cx="11338560" cy="4526280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4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гражданин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1" name="Поле 921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2,5 часов до 10 дней. Охват — 29 населённых пунктов округа.</a:t>
            </a:r>
          </a:p>
        </p:txBody>
      </p:sp>
      <p:sp>
        <p:nvSpPr>
          <p:cNvPr id="922" name="Поле 922"/>
          <p:cNvSpPr txBox="1"/>
          <p:nvPr/>
        </p:nvSpPr>
        <p:spPr>
          <a:xfrm>
            <a:off x="411480" y="614476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3" name="Таблица 923"/>
          <p:cNvGraphicFramePr>
            <a:graphicFrameLocks noGrp="1"/>
          </p:cNvGraphicFramePr>
          <p:nvPr/>
        </p:nvGraphicFramePr>
        <p:xfrm>
          <a:off x="411480" y="1600200"/>
          <a:ext cx="11338560" cy="356616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об инициировании проекта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проект готов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Гражданин,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4" name="Поле 924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411480" y="4709160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