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6"/>
  </p:notesMasterIdLst>
  <p:sldIdLst>
    <p:sldId id="257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70" r:id="rId10"/>
    <p:sldId id="274" r:id="rId11"/>
    <p:sldId id="276" r:id="rId12"/>
    <p:sldId id="271" r:id="rId13"/>
    <p:sldId id="264" r:id="rId14"/>
    <p:sldId id="272" r:id="rId15"/>
  </p:sldIdLst>
  <p:sldSz cx="12192000" cy="6858000"/>
  <p:notesSz cx="6735763" cy="9799638"/>
  <p:embeddedFontLst>
    <p:embeddedFont>
      <p:font typeface="Onest Black" panose="020B0604020202020204" charset="-52"/>
      <p:bold r:id="rId17"/>
    </p:embeddedFont>
    <p:embeddedFont>
      <p:font typeface="Onest ExtraBold" panose="020B0604020202020204" charset="-52"/>
      <p:bold r:id="rId18"/>
    </p:embeddedFont>
    <p:embeddedFont>
      <p:font typeface="Onest Medium" panose="020B0604020202020204" charset="-52"/>
      <p:regular r:id="rId19"/>
    </p:embeddedFont>
    <p:embeddedFont>
      <p:font typeface="Onest Regular" panose="020B0604020202020204" charset="-52"/>
      <p:regular r:id="rId20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4" userDrawn="1">
          <p15:clr>
            <a:srgbClr val="A4A3A4"/>
          </p15:clr>
        </p15:guide>
        <p15:guide id="2" pos="21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D8DFF"/>
    <a:srgbClr val="6811FF"/>
    <a:srgbClr val="BCC8FF"/>
    <a:srgbClr val="A689FF"/>
    <a:srgbClr val="8AA8FF"/>
    <a:srgbClr val="87AEFF"/>
    <a:srgbClr val="98B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71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605" y="77"/>
      </p:cViewPr>
      <p:guideLst>
        <p:guide orient="horz" pos="504"/>
        <p:guide pos="21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16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16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24C230-9186-46D6-840B-DD6A945DA1D6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28625" y="1225550"/>
            <a:ext cx="5878513" cy="33067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3577" y="4716076"/>
            <a:ext cx="5388610" cy="385860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07956"/>
            <a:ext cx="2918831" cy="49168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15373" y="9307956"/>
            <a:ext cx="2918831" cy="49168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74009C-90AD-4273-A362-4E1FFF00F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6150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74009C-90AD-4273-A362-4E1FFF00F612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48195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1189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7896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3310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475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2837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6396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911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2344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0189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9755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6682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45C37-5429-452C-9884-B95CAC5A9CFA}" type="datetimeFigureOut">
              <a:rPr lang="ru-RU" smtClean="0"/>
              <a:t>23.08.2026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2CA87-212D-454A-952A-48DE2AAC87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527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&#1050;&#1072;&#1088;&#1090;&#1072;_&#1090;&#1077;&#1082;&#1091;&#1097;&#1077;&#1075;&#1086;_&#1089;&#1086;&#1089;&#1090;&#1086;&#1103;&#1085;&#1080;&#1103;-&#1058;&#1077;&#1082;&#1091;&#1097;&#1077;&#1077; &#1089;&#1086;&#1089;&#1090;&#1086;&#1103;&#1085;&#1080;&#1077;.drawio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325"/>
          <a:stretch/>
        </p:blipFill>
        <p:spPr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Оптимизация процесса приёма, маршрутизации и контроля исполнения сообщений граждан о проблемах благоустройства и жизнеобеспечения на территории Благовещенского муниципального округа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solidFill>
                  <a:schemeClr val="bg1"/>
                </a:solidFill>
                <a:latin typeface="Onest Black" pitchFamily="2" charset="-52"/>
              </a:rPr>
              <a:t>2026</a:t>
            </a:r>
            <a:endParaRPr lang="ru-RU" sz="3200" dirty="0">
              <a:solidFill>
                <a:schemeClr val="bg1"/>
              </a:solidFill>
              <a:latin typeface="Onest Black" pitchFamily="2" charset="-52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приём сообщений, четыре направления, подразделения-исполнители, Глава округа</a:t>
            </a:r>
          </a:p>
        </p:txBody>
      </p:sp>
    </p:spTree>
    <p:extLst>
      <p:ext uri="{BB962C8B-B14F-4D97-AF65-F5344CB8AC3E}">
        <p14:creationId xmlns:p14="http://schemas.microsoft.com/office/powerpoint/2010/main" val="900353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>
          <a:xfrm rot="5400000">
            <a:off x="1590790" y="-1267047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КАРТОЧКА ПРОЕКТА</a:t>
            </a:r>
          </a:p>
        </p:txBody>
      </p:sp>
      <p:grpSp>
        <p:nvGrpSpPr>
          <p:cNvPr id="3" name="Группа 2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7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1</a:t>
              </a: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поступления сообщения гражданина о проблеме благоустройства или жизнеобеспечения — до подтверждения гражданином устранения и выставления оценки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сообщения граждан поступают по разрозненным каналам — телефон приёмной, личный приём, письменные заявления, социальные сети. Регистрация, определение сути и адреса, поиск ответственного и передача поручения выполняются вручную; единый учёт сроков отсутствует, результат гражданину не сообщается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потеря и «зависание» сообщений при отсутствии сквозного учёта: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2770632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процесса: сообщение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гражданином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 об одной и той же проблеме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336792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4432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КАРТА ТЕКУЩЕГО СОСТОЯНИЯ</a:t>
            </a:r>
          </a:p>
        </p:txBody>
      </p:sp>
      <p:grpSp>
        <p:nvGrpSpPr>
          <p:cNvPr id="16" name="Группа 15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8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sz="2400" dirty="0">
                  <a:latin typeface="Onest ExtraBold" pitchFamily="2" charset="-52"/>
                </a:rPr>
                <a:t>2</a:t>
              </a:r>
              <a:endParaRPr lang="ru-RU" sz="2400" dirty="0">
                <a:latin typeface="Onest ExtraBold" pitchFamily="2" charset="-52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1272997"/>
            <a:ext cx="11667744" cy="515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226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АНАЛИЗ ПРОБЛЕМ</a:t>
            </a:r>
          </a:p>
        </p:txBody>
      </p:sp>
      <p:grpSp>
        <p:nvGrpSpPr>
          <p:cNvPr id="9" name="Группа 8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1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3</a:t>
              </a: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Восемь видов потерь, выявленных в процессе. Классификация и порядок — официальные, по методике бережливого управления.</a:t>
            </a:r>
          </a:p>
        </p:txBody>
      </p:sp>
      <p:graphicFrame>
        <p:nvGraphicFramePr>
          <p:cNvPr id="908" name="Таблица 908"/>
          <p:cNvGraphicFramePr>
            <a:graphicFrameLocks noGrp="1"/>
          </p:cNvGraphicFramePr>
          <p:nvPr/>
        </p:nvGraphicFramePr>
        <p:xfrm>
          <a:off x="502920" y="1481328"/>
          <a:ext cx="11155680" cy="4608576"/>
        </p:xfrm>
        <a:graphic>
          <a:graphicData uri="http://schemas.openxmlformats.org/drawingml/2006/table">
            <a:tbl>
              <a:tblPr/>
              <a:tblGrid>
                <a:gridCol w="3246120"/>
                <a:gridCol w="7909560"/>
              </a:tblGrid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Вид потери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проявляется в процессе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 Перепроизводство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Несколько граждан сообщают об одной проблеме — по каждому заводится отдельная работа и отдельно выезжает исполнитель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 Лишние движения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Сотрудник вручную ищет, чья это зона ответственности, и поднимает историю прежних обращений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 Ненужная транспортировка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Суть пересказывается по цепочке: гражданин → приёмная → записка или звонок → исполнитель, с потерей деталей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4. Излишние запасы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Необработанные сообщения копятся в разных каналах и на разных столах, объём очереди никому не виден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5. Избыточная обработка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Одно сообщение переписывается трижды: в журнал, исполнителю, в 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6. Ожидание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Сообщение ждёт ручной регистрации и передачи; исполнение идёт без установленного срока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7. Переделка и брак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 без результата — гражданин обращается повторно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8. Неиспользование человеческого потенциала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Квалифицированный сотрудник занят механической регистрацией и диспетчеризацией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9" name="Поле 909"/>
          <p:cNvSpPr txBox="1"/>
          <p:nvPr/>
        </p:nvSpPr>
        <p:spPr>
          <a:xfrm>
            <a:off x="502920" y="6355080"/>
            <a:ext cx="1115568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Корневые причины — метод «5 почему» и диаграмма Исикавы — готовятся к 31.08.2026</a:t>
            </a:r>
          </a:p>
        </p:txBody>
      </p:sp>
    </p:spTree>
    <p:extLst>
      <p:ext uri="{BB962C8B-B14F-4D97-AF65-F5344CB8AC3E}">
        <p14:creationId xmlns:p14="http://schemas.microsoft.com/office/powerpoint/2010/main" val="3609079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КАРТА ЦЕЛЕВОГО СОСТОЯНИЯ</a:t>
            </a:r>
          </a:p>
        </p:txBody>
      </p:sp>
      <p:grpSp>
        <p:nvGrpSpPr>
          <p:cNvPr id="11" name="Группа 10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3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4</a:t>
              </a:r>
            </a:p>
          </p:txBody>
        </p:sp>
      </p:grpSp>
      <p:sp>
        <p:nvSpPr>
          <p:cNvPr id="910" name="Поле 910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целевого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Та же сетка, что у карты текущего состояния: сравнение читается глазом.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Проблемы («ежи») заменяются мероприятиями («облачками»), выноска внизу — «Предлагаемые решения», ВПП пересчитан.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01–03.09.2026 на основе карты текущего состояния</a:t>
            </a:r>
          </a:p>
        </p:txBody>
      </p:sp>
    </p:spTree>
    <p:extLst>
      <p:ext uri="{BB962C8B-B14F-4D97-AF65-F5344CB8AC3E}">
        <p14:creationId xmlns:p14="http://schemas.microsoft.com/office/powerpoint/2010/main" val="1456287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ПЛАН МЕРОПРИЯТИЙ</a:t>
            </a:r>
          </a:p>
        </p:txBody>
      </p:sp>
      <p:grpSp>
        <p:nvGrpSpPr>
          <p:cNvPr id="6" name="Группа 5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8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5</a:t>
              </a:r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411480" y="1051560"/>
          <a:ext cx="11384280" cy="5047488"/>
        </p:xfrm>
        <a:graphic>
          <a:graphicData uri="http://schemas.openxmlformats.org/drawingml/2006/table">
            <a:tbl>
              <a:tblPr/>
              <a:tblGrid>
                <a:gridCol w="2788920"/>
                <a:gridCol w="3246120"/>
                <a:gridCol w="2880360"/>
                <a:gridCol w="1417320"/>
                <a:gridCol w="1051560"/>
              </a:tblGrid>
              <a:tr h="84124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Ожидаемый результат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двух мессенджерах — Telegram и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гражданину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2" name="Поле 912"/>
          <p:cNvSpPr txBox="1"/>
          <p:nvPr/>
        </p:nvSpPr>
        <p:spPr>
          <a:xfrm>
            <a:off x="411480" y="617220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исполнители и сроки проставляются по приказу об открытии проекта и утверждаются вместе с планом (Приложение № 3)</a:t>
            </a:r>
          </a:p>
        </p:txBody>
      </p:sp>
    </p:spTree>
    <p:extLst>
      <p:ext uri="{BB962C8B-B14F-4D97-AF65-F5344CB8AC3E}">
        <p14:creationId xmlns:p14="http://schemas.microsoft.com/office/powerpoint/2010/main" val="12718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РЕЗУЛЬТАТЫ ПРОЕКТА</a:t>
            </a:r>
          </a:p>
        </p:txBody>
      </p:sp>
      <p:grpSp>
        <p:nvGrpSpPr>
          <p:cNvPr id="6" name="Группа 5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8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6</a:t>
              </a:r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411480" y="1051560"/>
          <a:ext cx="11384280" cy="4389120"/>
        </p:xfrm>
        <a:graphic>
          <a:graphicData uri="http://schemas.openxmlformats.org/drawingml/2006/table">
            <a:tbl>
              <a:tblPr/>
              <a:tblGrid>
                <a:gridCol w="5806440"/>
                <a:gridCol w="1051560"/>
                <a:gridCol w="1600200"/>
                <a:gridCol w="1874520"/>
                <a:gridCol w="105156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сообщения гражданина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гражданином результата отработки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повторных обращений об одной и той же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411480" y="5715000"/>
            <a:ext cx="11338560" cy="8229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  <p:extLst>
      <p:ext uri="{BB962C8B-B14F-4D97-AF65-F5344CB8AC3E}">
        <p14:creationId xmlns:p14="http://schemas.microsoft.com/office/powerpoint/2010/main" val="3928947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КАРТА ДОСТИГНУТОГО СОСТОЯНИЯ</a:t>
            </a:r>
          </a:p>
        </p:txBody>
      </p:sp>
      <p:grpSp>
        <p:nvGrpSpPr>
          <p:cNvPr id="6" name="Группа 5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8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7</a:t>
              </a:r>
            </a:p>
          </p:txBody>
        </p:sp>
      </p:grpSp>
      <p:sp>
        <p:nvSpPr>
          <p:cNvPr id="915" name="Поле 915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достигнутого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Строится как карта текущего состояния, но без проблем и мероприятий — проверка того, что целевое состояние достигнуто.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Внизу — фактическое ВПП после внедрения, для сравнения с исходным.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28.09.2026, после мониторинга достигнутых результатов</a:t>
            </a:r>
          </a:p>
        </p:txBody>
      </p:sp>
    </p:spTree>
    <p:extLst>
      <p:ext uri="{BB962C8B-B14F-4D97-AF65-F5344CB8AC3E}">
        <p14:creationId xmlns:p14="http://schemas.microsoft.com/office/powerpoint/2010/main" val="1272445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ПРИЛОЖЕНИЕ. Эффект от внедрения</a:t>
            </a:r>
          </a:p>
        </p:txBody>
      </p:sp>
      <p:grpSp>
        <p:nvGrpSpPr>
          <p:cNvPr id="2" name="Группа 1"/>
          <p:cNvGrpSpPr/>
          <p:nvPr/>
        </p:nvGrpSpPr>
        <p:grpSpPr>
          <a:xfrm>
            <a:off x="334963" y="1306044"/>
            <a:ext cx="1387736" cy="594477"/>
            <a:chOff x="2355925" y="1796529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 dpi="0" rotWithShape="1">
              <a:blip r:embed="rId3">
                <a:alphaModFix amt="63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>
            <a:xfrm>
              <a:off x="2529840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ru-RU" sz="2400" dirty="0">
                  <a:latin typeface="Onest Medium" pitchFamily="2" charset="-52"/>
                </a:rPr>
                <a:t>было:</a:t>
              </a:r>
            </a:p>
          </p:txBody>
        </p:sp>
      </p:grpSp>
      <p:grpSp>
        <p:nvGrpSpPr>
          <p:cNvPr id="14" name="Группа 13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6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8</a:t>
              </a:r>
            </a:p>
          </p:txBody>
        </p:sp>
      </p:grpSp>
      <p:sp>
        <p:nvSpPr>
          <p:cNvPr id="916" name="Поле 916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Как принимались сообщения раньше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Схема или фотографии: телефон приёмной, личный приём, письменные заявления, комментарии в социальных сетях. Журнал регистрации, передача поручения запиской.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Скриншоты таблиц целиком не используем — из зала не читаются.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Материал собирается вместе с замерами «как было», 24–31.08.2026</a:t>
            </a:r>
          </a:p>
        </p:txBody>
      </p:sp>
    </p:spTree>
    <p:extLst>
      <p:ext uri="{BB962C8B-B14F-4D97-AF65-F5344CB8AC3E}">
        <p14:creationId xmlns:p14="http://schemas.microsoft.com/office/powerpoint/2010/main" val="2096937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ПРИЛОЖЕНИЕ. Эффект от внедрения</a:t>
            </a:r>
          </a:p>
        </p:txBody>
      </p:sp>
      <p:grpSp>
        <p:nvGrpSpPr>
          <p:cNvPr id="14" name="Группа 13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6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9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334963" y="1306045"/>
            <a:ext cx="1387736" cy="594477"/>
            <a:chOff x="2355925" y="1796529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 dpi="0" rotWithShape="1">
              <a:blip r:embed="rId3">
                <a:alphaModFix amt="63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ru-RU" sz="2400" dirty="0">
                  <a:latin typeface="Onest Medium" pitchFamily="2" charset="-52"/>
                </a:rPr>
                <a:t>стало:</a:t>
              </a:r>
            </a:p>
          </p:txBody>
        </p:sp>
      </p:grpSp>
      <p:sp>
        <p:nvSpPr>
          <p:cNvPr id="917" name="Поле 917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Как сообщения обрабатываются сейчас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Обезличенные экраны бота: приём сообщения с фото и геометкой, карточка заявки у исполнителя, уведомление гражданину «до / после» с оценкой.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Крупные фрагменты интерфейса, а не экран целиком.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Скриншоты готовятся к 15.09.2026, персональные данные обезличиваются</a:t>
            </a:r>
          </a:p>
        </p:txBody>
      </p:sp>
    </p:spTree>
    <p:extLst>
      <p:ext uri="{BB962C8B-B14F-4D97-AF65-F5344CB8AC3E}">
        <p14:creationId xmlns:p14="http://schemas.microsoft.com/office/powerpoint/2010/main" val="3697088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ПРИЛОЖЕНИЕ. Эффект от внедрения</a:t>
            </a:r>
          </a:p>
        </p:txBody>
      </p:sp>
      <p:grpSp>
        <p:nvGrpSpPr>
          <p:cNvPr id="14" name="Группа 13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6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10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8119501" y="1275173"/>
            <a:ext cx="1387736" cy="594477"/>
            <a:chOff x="2355925" y="1796529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 dpi="0" rotWithShape="1">
              <a:blip r:embed="rId3">
                <a:alphaModFix amt="63000"/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ru-RU" sz="2400" dirty="0">
                  <a:latin typeface="Onest Medium" pitchFamily="2" charset="-52"/>
                </a:rPr>
                <a:t>стало:</a:t>
              </a:r>
            </a:p>
          </p:txBody>
        </p:sp>
      </p:grp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09" y="1272751"/>
            <a:ext cx="1390650" cy="596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509798" y="1371440"/>
            <a:ext cx="1100517" cy="429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90000"/>
              </a:lnSpc>
            </a:pPr>
            <a:r>
              <a:rPr lang="ru-RU" sz="2400" dirty="0">
                <a:solidFill>
                  <a:prstClr val="black"/>
                </a:solidFill>
                <a:latin typeface="Onest Medium" pitchFamily="2" charset="-52"/>
              </a:rPr>
              <a:t>было: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Было и стало рядом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Слева — ручная регистрация и передача поручения. Справа — панель администрации: срок на каждой заявке, карта, статистика по направлениям.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Здесь же диаграммы эффекта: сокращение времени протекания процесса и доля заявок, исполненных в срок.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Собирается после мониторинга результатов, 24–28.09.2026</a:t>
            </a:r>
          </a:p>
        </p:txBody>
      </p:sp>
    </p:spTree>
    <p:extLst>
      <p:ext uri="{BB962C8B-B14F-4D97-AF65-F5344CB8AC3E}">
        <p14:creationId xmlns:p14="http://schemas.microsoft.com/office/powerpoint/2010/main" val="28963103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ПРИЛОЖЕНИЕ. Стандарты и нормативы</a:t>
            </a:r>
          </a:p>
        </p:txBody>
      </p:sp>
      <p:grpSp>
        <p:nvGrpSpPr>
          <p:cNvPr id="10" name="Группа 9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15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11</a:t>
              </a:r>
            </a:p>
          </p:txBody>
        </p:sp>
      </p:grpSp>
      <p:sp>
        <p:nvSpPr>
          <p:cNvPr id="919" name="Поле 919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Стандарт улучшенного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работы сервиса приёма сообщений: роли и зоны ответственности, сроки по категориям, порядок эскалации, правила закрытия заявки.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Плюс памятки по ролям — для гражданина, исполнителя, руководителя направления и оператора панели.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Утверждается приказом администрации округа.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Разрабатывается 28–29.09.2026 — обязателен по методике и даёт балл на конкурсе</a:t>
            </a:r>
          </a:p>
        </p:txBody>
      </p:sp>
    </p:spTree>
    <p:extLst>
      <p:ext uri="{BB962C8B-B14F-4D97-AF65-F5344CB8AC3E}">
        <p14:creationId xmlns:p14="http://schemas.microsoft.com/office/powerpoint/2010/main" val="3180310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 dpi="0" rotWithShape="1">
            <a:blip r:embed="rId2">
              <a:alphaModFix amt="63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ПРИЛОЖЕНИЕ. Дополнительная информация </a:t>
            </a:r>
          </a:p>
          <a:p>
            <a:pPr>
              <a:lnSpc>
                <a:spcPct val="90000"/>
              </a:lnSpc>
            </a:pPr>
            <a:r>
              <a:rPr lang="ru-RU" sz="2400" dirty="0">
                <a:latin typeface="Onest Black" pitchFamily="2" charset="-52"/>
              </a:rPr>
              <a:t>о проекте</a:t>
            </a:r>
          </a:p>
        </p:txBody>
      </p:sp>
      <p:grpSp>
        <p:nvGrpSpPr>
          <p:cNvPr id="6" name="Группа 5"/>
          <p:cNvGrpSpPr/>
          <p:nvPr/>
        </p:nvGrpSpPr>
        <p:grpSpPr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Onest ExtraBold" pitchFamily="2" charset="-52"/>
              </a:endParaRPr>
            </a:p>
          </p:txBody>
        </p:sp>
        <p:sp>
          <p:nvSpPr>
            <p:cNvPr id="8" name="Заголовок 1"/>
            <p:cNvSpPr/>
            <p:nvPr/>
          </p:nvSpPr>
          <p:spPr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ru-RU" sz="2400" dirty="0">
                  <a:latin typeface="Onest ExtraBold" pitchFamily="2" charset="-52"/>
                </a:rPr>
                <a:t>12</a:t>
              </a:r>
            </a:p>
          </p:txBody>
        </p:sp>
      </p:grp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4329807"/>
              </p:ext>
            </p:extLst>
          </p:nvPr>
        </p:nvGraphicFramePr>
        <p:xfrm>
          <a:off x="652191" y="2020094"/>
          <a:ext cx="10693529" cy="3960000"/>
        </p:xfrm>
        <a:graphic>
          <a:graphicData uri="http://schemas.openxmlformats.org/drawingml/2006/table">
            <a:tbl>
              <a:tblPr/>
              <a:tblGrid>
                <a:gridCol w="743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2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072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92000"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200" b="0" dirty="0">
                        <a:solidFill>
                          <a:schemeClr val="tx1"/>
                        </a:solidFill>
                        <a:latin typeface="TT Norms Regular" pitchFamily="2" charset="-52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latin typeface="Onest ExtraBold" pitchFamily="2" charset="-52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200" b="0" dirty="0">
                        <a:solidFill>
                          <a:schemeClr val="tx1"/>
                        </a:solidFill>
                        <a:latin typeface="TT Norms Regular" pitchFamily="2" charset="-52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latin typeface="Onest ExtraBold" pitchFamily="2" charset="-52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pPr marL="0" marR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200" b="0" dirty="0">
                        <a:solidFill>
                          <a:schemeClr val="tx1"/>
                        </a:solidFill>
                        <a:latin typeface="TT Norms Regular" pitchFamily="2" charset="-52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latin typeface="Onest ExtraBold" pitchFamily="2" charset="-52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ru-RU" sz="1200" b="0" dirty="0">
                        <a:solidFill>
                          <a:schemeClr val="tx1"/>
                        </a:solidFill>
                        <a:latin typeface="TT Norms Regular" pitchFamily="2" charset="-52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latin typeface="Onest ExtraBold" pitchFamily="2" charset="-52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</a:p>
                    <a:p>
                      <a:endParaRPr lang="ru-RU" sz="1100" dirty="0">
                        <a:solidFill>
                          <a:schemeClr val="tx1"/>
                        </a:solidFill>
                        <a:latin typeface="Onest ExtraBold" pitchFamily="2" charset="-52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pPr marL="0" marR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0" dirty="0">
                        <a:solidFill>
                          <a:schemeClr val="tx1"/>
                        </a:solidFill>
                        <a:latin typeface="TT Norms Regular" pitchFamily="2" charset="-52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latin typeface="Onest ExtraBold" pitchFamily="2" charset="-52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мультиканальный сервис «Точка перемен» — Telegram и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603" y="5515436"/>
            <a:ext cx="409086" cy="409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018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 dpi="0" rotWithShape="1">
            <a:blip r:embed="rId2">
              <a:alphaModFix amt="56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endParaRPr lang="ru-RU" sz="2400" dirty="0">
              <a:latin typeface="Onest Black" pitchFamily="2" charset="-5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latin typeface="Onest Black" pitchFamily="2" charset="-52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20538996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941</TotalTime>
  <Words>552</Words>
  <Application>Microsoft Office PowerPoint</Application>
  <PresentationFormat>Широкоэкранный</PresentationFormat>
  <Paragraphs>117</Paragraphs>
  <Slides>14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3" baseType="lpstr">
      <vt:lpstr>Onest Medium</vt:lpstr>
      <vt:lpstr>Arial</vt:lpstr>
      <vt:lpstr>Calibri</vt:lpstr>
      <vt:lpstr>Onest ExtraBold</vt:lpstr>
      <vt:lpstr>TT Norms Regular</vt:lpstr>
      <vt:lpstr>Onest Black</vt:lpstr>
      <vt:lpstr>Calibri Light</vt:lpstr>
      <vt:lpstr>Onest Regular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Надежда Вячеславовна Гребенюк</dc:creator>
  <cp:lastModifiedBy>User</cp:lastModifiedBy>
  <cp:revision>121</cp:revision>
  <cp:lastPrinted>2024-11-19T05:07:17Z</cp:lastPrinted>
  <dcterms:created xsi:type="dcterms:W3CDTF">2024-11-14T01:51:24Z</dcterms:created>
  <dcterms:modified xsi:type="dcterms:W3CDTF">2026-08-23T12:29:45Z</dcterms:modified>
</cp:coreProperties>
</file>