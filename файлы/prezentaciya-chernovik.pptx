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9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  <a:prstDash val="dashDot"/>
            </a:ln>
          </a:left>
          <a:right>
            <a:ln w="12700">
              <a:solidFill>
                <a:schemeClr val="lt1"/>
              </a:solidFill>
              <a:prstDash val="dashDot"/>
            </a:ln>
          </a:right>
          <a:top>
            <a:ln w="12700">
              <a:solidFill>
                <a:schemeClr val="lt1"/>
              </a:solidFill>
              <a:prstDash val="dashDot"/>
            </a:ln>
          </a:top>
          <a:bottom>
            <a:ln w="12700">
              <a:solidFill>
                <a:schemeClr val="lt1"/>
              </a:solidFill>
              <a:prstDash val="dashDot"/>
            </a:ln>
          </a:bottom>
          <a:insideH>
            <a:ln w="12700">
              <a:solidFill>
                <a:schemeClr val="lt1"/>
              </a:solidFill>
              <a:prstDash val="dashDot"/>
            </a:ln>
          </a:insideH>
          <a:insideV>
            <a:ln w="12700">
              <a:solidFill>
                <a:schemeClr val="lt1"/>
              </a:solidFill>
              <a:prstDash val="dashDot"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  <a:prstDash val="dashDot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  <a:prstDash val="dashDot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88" d="100"/>
          <a:sy n="88" d="100"/>
        </p:scale>
        <p:origin x="96" y="564"/>
      </p:cViewPr>
      <p:guideLst>
        <p:guide pos="504" orient="horz"/>
        <p:guide pos="211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2"/>
          <a:srcRect l="0" t="0" r="47325" b="0"/>
          <a:stretch/>
        </p:blipFill>
        <p:spPr bwMode="auto">
          <a:xfrm>
            <a:off x="1" y="0"/>
            <a:ext cx="2329528" cy="6858000"/>
          </a:xfrm>
          <a:custGeom>
            <a:avLst/>
            <a:gdLst>
              <a:gd name="connsiteX0" fmla="*/ 0 w 2329528"/>
              <a:gd name="connsiteY0" fmla="*/ 0 h 6858000"/>
              <a:gd name="connsiteX1" fmla="*/ 1938995 w 2329528"/>
              <a:gd name="connsiteY1" fmla="*/ 0 h 6858000"/>
              <a:gd name="connsiteX2" fmla="*/ 2329528 w 2329528"/>
              <a:gd name="connsiteY2" fmla="*/ 390533 h 6858000"/>
              <a:gd name="connsiteX3" fmla="*/ 2329528 w 2329528"/>
              <a:gd name="connsiteY3" fmla="*/ 6467467 h 6858000"/>
              <a:gd name="connsiteX4" fmla="*/ 1938995 w 2329528"/>
              <a:gd name="connsiteY4" fmla="*/ 6858000 h 6858000"/>
              <a:gd name="connsiteX5" fmla="*/ 0 w 2329528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29528" h="6858000" fill="norm" stroke="1" extrusionOk="0">
                <a:moveTo>
                  <a:pt x="0" y="0"/>
                </a:moveTo>
                <a:lnTo>
                  <a:pt x="1938995" y="0"/>
                </a:lnTo>
                <a:cubicBezTo>
                  <a:pt x="2154680" y="0"/>
                  <a:pt x="2329528" y="174848"/>
                  <a:pt x="2329528" y="390533"/>
                </a:cubicBezTo>
                <a:lnTo>
                  <a:pt x="2329528" y="6467467"/>
                </a:lnTo>
                <a:cubicBezTo>
                  <a:pt x="2329528" y="6683152"/>
                  <a:pt x="2154680" y="6858000"/>
                  <a:pt x="1938995" y="6858000"/>
                </a:cubicBez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TextBox 6"/>
          <p:cNvSpPr txBox="1"/>
          <p:nvPr/>
        </p:nvSpPr>
        <p:spPr>
          <a:xfrm>
            <a:off x="2394266" y="1639886"/>
            <a:ext cx="98624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Оптимизация процесса приёма, маршрутизации и контроля исполнения сообщений граждан о проблемах благоустройства и жизнеобеспечения на территории Благовещенского муниципального округа</a:t>
            </a:r>
            <a:endParaRPr lang="ru-RU" sz="2400" dirty="0">
              <a:latin typeface="Onest Black" pitchFamily="2" charset="-52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4069507" y="1316205"/>
            <a:ext cx="6382512" cy="0"/>
          </a:xfrm>
          <a:prstGeom prst="line">
            <a:avLst/>
          </a:prstGeom>
          <a:ln w="3175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53161" y="2409579"/>
            <a:ext cx="1924980" cy="21167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29528" y="924124"/>
            <a:ext cx="986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Onest Regular" pitchFamily="2" charset="-52"/>
              </a:rPr>
              <a:t>Отчетная презентация проекта</a:t>
            </a:r>
          </a:p>
        </p:txBody>
      </p:sp>
      <p:sp>
        <p:nvSpPr>
          <p:cNvPr id="26" name="Прямоугольник 25"/>
          <p:cNvSpPr/>
          <p:nvPr/>
        </p:nvSpPr>
        <p:spPr>
          <a:xfrm>
            <a:off x="7543800" y="4710127"/>
            <a:ext cx="40324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ДОКЛАДЧИК: Уваров Геннадий Геннадьевич</a:t>
            </a:r>
          </a:p>
          <a:p>
            <a:endParaRPr lang="ru-RU" sz="1600" dirty="0">
              <a:solidFill>
                <a:schemeClr val="tx1">
                  <a:lumMod val="75000"/>
                  <a:lumOff val="25000"/>
                </a:schemeClr>
              </a:solidFill>
              <a:latin typeface="Onest Medium" pitchFamily="2" charset="-52"/>
            </a:endParaRPr>
          </a:p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ОРГАНИЗАЦИЯ: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 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Администрация Благовещенского муниципального округа</a:t>
            </a:r>
          </a:p>
        </p:txBody>
      </p:sp>
      <p:sp>
        <p:nvSpPr>
          <p:cNvPr id="9" name="TextBox 8"/>
          <p:cNvSpPr txBox="1"/>
          <p:nvPr/>
        </p:nvSpPr>
        <p:spPr bwMode="auto">
          <a:xfrm>
            <a:off x="251389" y="2948953"/>
            <a:ext cx="182675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800">
                <a:solidFill>
                  <a:schemeClr val="bg1"/>
                </a:solidFill>
                <a:latin typeface="Onest Black"/>
              </a:rPr>
              <a:t>202</a:t>
            </a:r>
            <a:r>
              <a:rPr lang="en-US" sz="4800">
                <a:solidFill>
                  <a:schemeClr val="bg1"/>
                </a:solidFill>
                <a:latin typeface="Onest Black"/>
              </a:rPr>
              <a:t>6</a:t>
            </a:r>
            <a:endParaRPr lang="ru-RU" sz="3200">
              <a:solidFill>
                <a:schemeClr val="bg1"/>
              </a:solidFill>
              <a:latin typeface="Onest Black"/>
            </a:endParaRPr>
          </a:p>
        </p:txBody>
      </p:sp>
      <p:sp>
        <p:nvSpPr>
          <p:cNvPr id="901" name="Поле 901"/>
          <p:cNvSpPr txBox="1"/>
          <p:nvPr/>
        </p:nvSpPr>
        <p:spPr>
          <a:xfrm>
            <a:off x="7360920" y="6236208"/>
            <a:ext cx="452628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ПЕРИМЕТР ПРОЕКТА:</a:t>
            </a:r>
          </a:p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Администрация Благовещенского муниципального округа: приём сообщений, четыре направления, подразделения-исполнители, Глава округа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2"/>
          <p:cNvSpPr/>
          <p:nvPr/>
        </p:nvSpPr>
        <p:spPr bwMode="auto">
          <a:xfrm rot="5400000">
            <a:off x="1590789" y="-1267046"/>
            <a:ext cx="656216" cy="3837793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5" name="Заголовок 1"/>
          <p:cNvSpPr/>
          <p:nvPr/>
        </p:nvSpPr>
        <p:spPr bwMode="auto">
          <a:xfrm>
            <a:off x="53788" y="481749"/>
            <a:ext cx="3837792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КАРТОЧКА ПРОЕКТА</a:t>
            </a:r>
            <a:endParaRPr/>
          </a:p>
        </p:txBody>
      </p:sp>
      <p:grpSp>
        <p:nvGrpSpPr>
          <p:cNvPr id="3" name="Группа 2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2" name="Овал 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7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02" name="Таблица 902"/>
          <p:cNvGraphicFramePr>
            <a:graphicFrameLocks noGrp="1"/>
          </p:cNvGraphicFramePr>
          <p:nvPr/>
        </p:nvGraphicFramePr>
        <p:xfrm>
          <a:off x="265176" y="960120"/>
          <a:ext cx="11704320" cy="2496312"/>
        </p:xfrm>
        <a:graphic>
          <a:graphicData uri="http://schemas.openxmlformats.org/drawingml/2006/table">
            <a:tbl>
              <a:tblPr/>
              <a:tblGrid>
                <a:gridCol w="6355080"/>
                <a:gridCol w="210312"/>
                <a:gridCol w="5138928"/>
              </a:tblGrid>
              <a:tr h="2560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ВОВЛЕЧЁННЫЕ ЛИЦА И РАМКИ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ОБОСНОВАНИЕ ВЫБОРА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Заказчики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Глава Благовещенского муниципального округа; заместители главы — головные по направлениям (УДС, Благоустройство, ЖКХ)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Владелец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уточняется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Руководитель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Г.Г., начальник отдела информационного обслуживания Финансового управления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Команда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«Лидеры перемен», 5 чел.: Уваров Г.Г. (капитан) · Вихрова А.В. (МБУ «Информационный центр») · Воронцова Д.С. (благоустройство, УЖКХ) · Комчадалова А.А. (муниципальный контроль) · Степаненко А.О. (советник главы)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Границы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 поступления сообщения гражданина о проблеме благоустройства или жизнеобеспечения — до подтверждения гражданином устранения и выставления оценки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Периметр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округа: приём сообщений, четыре направления с головными заместителями и подразделения-исполнители, Глава округа. Охват — 27 населённых пунктов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сообщения граждан поступают по разрозненным каналам — телефон приёмной, личный приём, письменные заявления, социальные сети. Регистрация, определение сути и адреса, поиск ответственного и передача поручения выполняются вручную; единый учёт сроков отсутствует, результат гражданину не сообщается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Источник проблематики: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Ключевой риск: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потеря и «зависание» сообщений при отсутствии сквозного учёта: нарушение сроков устранения, рост повторных и вышестоящих обращений, снижение доверия жителей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Влияние на цели и задачи: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удовлетворённость жителей содержанием территории; клиентоцентричность по федеральному проекту «Государство для людей»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Тиражируемость: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процесс типовой для муниципальных образований области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03" name="Таблица 903"/>
          <p:cNvGraphicFramePr>
            <a:graphicFrameLocks noGrp="1"/>
          </p:cNvGraphicFramePr>
          <p:nvPr/>
        </p:nvGraphicFramePr>
        <p:xfrm>
          <a:off x="347472" y="3529584"/>
          <a:ext cx="5029200" cy="2770632"/>
        </p:xfrm>
        <a:graphic>
          <a:graphicData uri="http://schemas.openxmlformats.org/drawingml/2006/table">
            <a:tbl>
              <a:tblPr/>
              <a:tblGrid>
                <a:gridCol w="2816352"/>
                <a:gridCol w="694944"/>
                <a:gridCol w="603504"/>
                <a:gridCol w="914400"/>
              </a:tblGrid>
              <a:tr h="246888">
                <a:tc gridSpan="4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ЦЕЛИ И ПЛАНОВЫЙ ЭФФЕКТ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Время протекания процесса: сообщение → подтверждённое устранение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раб. дн.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−30 %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Трудозатраты на регистрацию сообщения и передачу исполнителю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установленным сроком исполнения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Заявки, исполненные в установленный срок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Закрытые заявки с подтверждением результата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Средняя оценка гражданином результата, шкала 1–5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 об одной и той же проблеме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−50 %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sp>
        <p:nvSpPr>
          <p:cNvPr id="904" name="Поле 904"/>
          <p:cNvSpPr txBox="1"/>
          <p:nvPr/>
        </p:nvSpPr>
        <p:spPr>
          <a:xfrm>
            <a:off x="347472" y="6336792"/>
            <a:ext cx="5029200" cy="3200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6C5CE0"/>
                </a:solidFill>
                <a:latin typeface="Onest Medium" pitchFamily="2" charset="-52"/>
              </a:rPr>
              <a:t xml:space="preserve">—  базовые значения уточняются в рамках хронометража, 24–31.08.2026</a:t>
            </a:r>
          </a:p>
        </p:txBody>
      </p:sp>
      <p:graphicFrame>
        <p:nvGraphicFramePr>
          <p:cNvPr id="905" name="Таблица 905"/>
          <p:cNvGraphicFramePr>
            <a:graphicFrameLocks noGrp="1"/>
          </p:cNvGraphicFramePr>
          <p:nvPr/>
        </p:nvGraphicFramePr>
        <p:xfrm>
          <a:off x="5641848" y="3529584"/>
          <a:ext cx="6428232" cy="3218688"/>
        </p:xfrm>
        <a:graphic>
          <a:graphicData uri="http://schemas.openxmlformats.org/drawingml/2006/table">
            <a:tbl>
              <a:tblPr/>
              <a:tblGrid>
                <a:gridCol w="4507992"/>
                <a:gridCol w="960120"/>
                <a:gridCol w="960120"/>
              </a:tblGrid>
              <a:tr h="246888">
                <a:tc gridSpan="3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4. КЛЮЧЕВЫЕ СОБЫТИЯ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Начало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Окончание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Старт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22.07.2026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Диагностика и целевое состояние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1.1. Разработка карты текущего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1.2. Сбор фактических данных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1.3. Разработка карты целевого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01.09.2026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1.4. Разработка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Реализация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2.1. Совещание по защите подходов внедрения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2.2. Внедрение мероприятий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Анализ результатов и закрытие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3.1. Мониторинг достигнутых результатов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25.09.2026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3.2. Оформление карты достигнутого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3.3. Разработка стандарта (норматива) и тиражирование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29.09.2026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3.4. Закрытие проекта (отчёт руководителю)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ТЕКУЩЕГО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2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6" name="Рисунок 90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2376" y="960120"/>
            <a:ext cx="9593345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452283" y="-1128540"/>
            <a:ext cx="656216" cy="356078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АНАЛИЗ ПРОБЛЕМ</a:t>
            </a:r>
            <a:endParaRPr lang="ru-RU" sz="2400">
              <a:latin typeface="Onest Black"/>
            </a:endParaRPr>
          </a:p>
        </p:txBody>
      </p:sp>
      <p:grpSp>
        <p:nvGrpSpPr>
          <p:cNvPr id="9" name="Группа 8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0" name="Овал 9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1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3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07" name="Поле 907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Восемь видов потерь, выявленных в процессе. Классификация и порядок — официальные, по методике бережливого управления.</a:t>
            </a:r>
          </a:p>
        </p:txBody>
      </p:sp>
      <p:graphicFrame>
        <p:nvGraphicFramePr>
          <p:cNvPr id="908" name="Таблица 908"/>
          <p:cNvGraphicFramePr>
            <a:graphicFrameLocks noGrp="1"/>
          </p:cNvGraphicFramePr>
          <p:nvPr/>
        </p:nvGraphicFramePr>
        <p:xfrm>
          <a:off x="502920" y="1481328"/>
          <a:ext cx="11155680" cy="4608576"/>
        </p:xfrm>
        <a:graphic>
          <a:graphicData uri="http://schemas.openxmlformats.org/drawingml/2006/table">
            <a:tbl>
              <a:tblPr/>
              <a:tblGrid>
                <a:gridCol w="3246120"/>
                <a:gridCol w="7909560"/>
              </a:tblGrid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Вид потери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проявляется в процессе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 Перепроизводство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Несколько граждан сообщают об одной проблеме — по каждому заводится отдельная работа и отдельно выезжает исполнитель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 Лишние движения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Сотрудник вручную ищет, чья это зона ответственности, и поднимает историю прежних обращений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 Ненужная транспортировка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Суть пересказывается по цепочке: гражданин → приёмная → записка или звонок → исполнитель, с потерей деталей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4. Излишние запасы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Необработанные сообщения копятся в разных каналах и на разных столах, объём очереди никому не виден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5. Избыточная обработка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Одно сообщение переписывается трижды: в журнал, исполнителю, в 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6. Ожидание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Сообщение ждёт ручной регистрации и передачи; исполнение идёт без установленного срока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7. Переделка и брак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 без результата — гражданин обращается повторно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8. Неиспользование человеческого потенциала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Квалифицированный сотрудник занят механической регистрацией и диспетчеризацией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9" name="Поле 909"/>
          <p:cNvSpPr txBox="1"/>
          <p:nvPr/>
        </p:nvSpPr>
        <p:spPr>
          <a:xfrm>
            <a:off x="502920" y="6355080"/>
            <a:ext cx="1115568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Корневые причины — метод «5 почему» и диаграмма Исикавы — готовятся к 31.08.2026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7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ЦЕЛЕВОГО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1" name="Группа 10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2" name="Овал 1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3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4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10" name="Поле 910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Карта целевого состояния процесса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Та же сетка, что у карты текущего состояния: сравнение читается глазом.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Проблемы («ежи») заменяются мероприятиями («облачками»), выноска внизу — «Предлагаемые решения», ВПП пересчитан.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Готовится 01–03.09.2026 на основе карты текущего состояния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678193" y="-1354451"/>
            <a:ext cx="656216" cy="40126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ПЛАН МЕРОПРИЯТИЙ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6</a:t>
              </a:r>
              <a:endParaRPr/>
            </a:p>
          </p:txBody>
        </p:sp>
      </p:grpSp>
      <p:graphicFrame>
        <p:nvGraphicFramePr>
          <p:cNvPr id="911" name="Таблица 911"/>
          <p:cNvGraphicFramePr>
            <a:graphicFrameLocks noGrp="1"/>
          </p:cNvGraphicFramePr>
          <p:nvPr/>
        </p:nvGraphicFramePr>
        <p:xfrm>
          <a:off x="338328" y="1280160"/>
          <a:ext cx="11301984" cy="5047488"/>
        </p:xfrm>
        <a:graphic>
          <a:graphicData uri="http://schemas.openxmlformats.org/drawingml/2006/table">
            <a:tbl>
              <a:tblPr/>
              <a:tblGrid>
                <a:gridCol w="640080"/>
                <a:gridCol w="2651760"/>
                <a:gridCol w="3566160"/>
                <a:gridCol w="2249424"/>
                <a:gridCol w="2194560"/>
              </a:tblGrid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 п/п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Мероприятия по решению проблем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Ответственные исполнители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Срок выполнения мероприятий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Разрозненные каналы приёма, ручная 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двух мессенджерах — Telegram и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Ручное определение сути, адреса и ответственного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Потеря сообщений при передаче, отсутствие учёта сроков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Дублирование работ по повторным обращениям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Сквозная дедупликация по координатам и адресу через оба канала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закрытие, отсутствие обратной связи гражданину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2" name="Поле 912"/>
          <p:cNvSpPr txBox="1"/>
          <p:nvPr/>
        </p:nvSpPr>
        <p:spPr>
          <a:xfrm>
            <a:off x="338328" y="6263640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Ответственные исполнители и сроки проставляются по приказу об открытии проекта и утверждаются вместе с планом (Приложение № 3)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6528" y="-1472785"/>
            <a:ext cx="656216" cy="424927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7</a:t>
              </a:r>
              <a:endParaRPr/>
            </a:p>
          </p:txBody>
        </p:sp>
      </p:grpSp>
      <p:graphicFrame>
        <p:nvGraphicFramePr>
          <p:cNvPr id="913" name="Таблица 913"/>
          <p:cNvGraphicFramePr>
            <a:graphicFrameLocks noGrp="1"/>
          </p:cNvGraphicFramePr>
          <p:nvPr/>
        </p:nvGraphicFramePr>
        <p:xfrm>
          <a:off x="237744" y="1581912"/>
          <a:ext cx="11576304" cy="4279392"/>
        </p:xfrm>
        <a:graphic>
          <a:graphicData uri="http://schemas.openxmlformats.org/drawingml/2006/table">
            <a:tbl>
              <a:tblPr/>
              <a:tblGrid>
                <a:gridCol w="704088"/>
                <a:gridCol w="4581144"/>
                <a:gridCol w="6291072"/>
              </a:tblGrid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РЕЗУЛЬТАТ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двух мессенджерах — Telegram и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Регистрация без участия сотрудника, время регистрации — секунды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Категория, адрес и срочность определяются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Доведение до исполнителя без ручной передачи, срок на каждой заявке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Сквозная дедупликация по координатам и адресу через оба канала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Обращения об одной проблеме склеиваются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Оценка ≤ 2 автоматически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1149" y="-1467406"/>
            <a:ext cx="656216" cy="423851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8</a:t>
              </a:r>
              <a:endParaRPr/>
            </a:p>
          </p:txBody>
        </p:sp>
      </p:grpSp>
      <p:graphicFrame>
        <p:nvGraphicFramePr>
          <p:cNvPr id="914" name="Таблица 914"/>
          <p:cNvGraphicFramePr>
            <a:graphicFrameLocks noGrp="1"/>
          </p:cNvGraphicFramePr>
          <p:nvPr/>
        </p:nvGraphicFramePr>
        <p:xfrm>
          <a:off x="374904" y="1325880"/>
          <a:ext cx="11292840" cy="4535424"/>
        </p:xfrm>
        <a:graphic>
          <a:graphicData uri="http://schemas.openxmlformats.org/drawingml/2006/table">
            <a:tbl>
              <a:tblPr/>
              <a:tblGrid>
                <a:gridCol w="4270248"/>
                <a:gridCol w="1673352"/>
                <a:gridCol w="1673352"/>
                <a:gridCol w="1673352"/>
                <a:gridCol w="2002536"/>
              </a:tblGrid>
              <a:tr h="56692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ФАКТ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КОММЕНТАРИЙ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Время протекания процесса: от сообщения гражданина до подтверждённого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сокращение ≥ 30 %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раб. дн.; база — по хронометражу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Трудозатраты сотрудника на регистрацию одного сообщения и передачу исполнителю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мин.; база — по хронометражу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установленным сроком исполнения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срок ставится автоматически по категории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заявок, исполненных в установленный 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закрытых заявок с документальным подтверждением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закрытие только с фото или отчётом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Средняя оценка гражданином результата отработки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балл по шкале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повторных обращений об одной и той же проблеме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снижение ≥ 50 %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считается по дедупликации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5" name="Поле 915"/>
          <p:cNvSpPr txBox="1"/>
          <p:nvPr/>
        </p:nvSpPr>
        <p:spPr>
          <a:xfrm>
            <a:off x="374904" y="6035040"/>
            <a:ext cx="11338560" cy="73152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База заполняется по итогам хронометража (24–31.08), факт — по итогам мониторинга достигнутых результатов (24–25.09).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Экономический эффект в рублях за год и затраты на реализацию проекта рассчитываются на этапе анализа результатов.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88429" y="-2564686"/>
            <a:ext cx="656216" cy="643307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ДОСТИГНУТОГО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5</a:t>
              </a:r>
              <a:endParaRPr/>
            </a:p>
          </p:txBody>
        </p:sp>
      </p:grpSp>
      <p:sp>
        <p:nvSpPr>
          <p:cNvPr id="916" name="Поле 916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Карта достигнутого состояния процесса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Строится как карта текущего состояния, но без проблем и мероприятий — проверка того, что целевое состояние достигнуто.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Внизу — фактическое ВПП после внедрения, для сравнения с исходным.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Готовится 28.09.2026, после мониторинга достигнутых результатов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72294" y="-2548551"/>
            <a:ext cx="656216" cy="64008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2" name="Группа 1"/>
          <p:cNvGrpSpPr/>
          <p:nvPr/>
        </p:nvGrpSpPr>
        <p:grpSpPr bwMode="auto">
          <a:xfrm>
            <a:off x="334963" y="1306044"/>
            <a:ext cx="1387736" cy="594477"/>
            <a:chOff x="2355925" y="1796528"/>
            <a:chExt cx="1387736" cy="594477"/>
          </a:xfrm>
        </p:grpSpPr>
        <p:sp>
          <p:nvSpPr>
            <p:cNvPr id="7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2529839" y="1892796"/>
              <a:ext cx="1095487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б</a:t>
              </a:r>
              <a:r>
                <a:rPr lang="ru-RU" sz="2400">
                  <a:latin typeface="Onest Medium"/>
                </a:rPr>
                <a:t>ыло:</a:t>
              </a:r>
              <a:endParaRPr lang="ru-RU" sz="2400">
                <a:latin typeface="Onest Medium"/>
              </a:endParaRPr>
            </a:p>
          </p:txBody>
        </p:sp>
      </p:grp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9</a:t>
              </a:r>
              <a:endParaRPr/>
            </a:p>
          </p:txBody>
        </p:sp>
      </p:grpSp>
      <p:sp>
        <p:nvSpPr>
          <p:cNvPr id="917" name="Поле 917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Как принимались сообщения раньше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Схема или фотографии: телефон приёмной, личный приём, письменные заявления, комментарии в социальных сетях. Журнал регистрации, передача поручения запиской.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Скриншоты таблиц целиком не используем — из зала не читаются.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Материал собирается вместе с замерами «как было», 24–31.08.2026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10</a:t>
              </a:r>
              <a:endParaRPr lang="ru-RU" sz="2400">
                <a:latin typeface="Onest ExtraBold"/>
              </a:endParaRPr>
            </a:p>
          </p:txBody>
        </p:sp>
      </p:grpSp>
      <p:grpSp>
        <p:nvGrpSpPr>
          <p:cNvPr id="10" name="Группа 9"/>
          <p:cNvGrpSpPr/>
          <p:nvPr/>
        </p:nvGrpSpPr>
        <p:grpSpPr bwMode="auto">
          <a:xfrm>
            <a:off x="334963" y="1306045"/>
            <a:ext cx="1387736" cy="594477"/>
            <a:chOff x="2355925" y="1796528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 bwMode="auto"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с</a:t>
              </a:r>
              <a:r>
                <a:rPr lang="ru-RU" sz="2400">
                  <a:latin typeface="Onest Medium"/>
                </a:rPr>
                <a:t>тало:</a:t>
              </a:r>
              <a:endParaRPr lang="ru-RU" sz="2400">
                <a:latin typeface="Onest Medium"/>
              </a:endParaRPr>
            </a:p>
          </p:txBody>
        </p:sp>
      </p:grpSp>
      <p:sp>
        <p:nvSpPr>
          <p:cNvPr id="918" name="Поле 918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Как сообщения обрабатываются сейчас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Обезличенные экраны бота: приём сообщения с фото и геометкой, карточка заявки у исполнителя, уведомление гражданину «до / после» с оценкой. Панель администрации: срок на каждой заявке, карта, статистика по направлениям.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Крупные фрагменты интерфейса, а не экран целиком.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Здесь же диаграммы эффекта: сокращение времени протекания процесса и доля заявок, исполненных в срок.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Скриншоты — к 15.09.2026, диаграммы — после мониторинга, 24–28.09.2026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087447" y="-2763704"/>
            <a:ext cx="656216" cy="6831107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Стандарты и нормативы</a:t>
            </a:r>
            <a:endParaRPr lang="ru-RU" sz="2400">
              <a:latin typeface="Onest Black"/>
            </a:endParaRPr>
          </a:p>
        </p:txBody>
      </p:sp>
      <p:grpSp>
        <p:nvGrpSpPr>
          <p:cNvPr id="10" name="Группа 9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4" name="Овал 13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5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11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19" name="Поле 919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Стандарт улучшенного процесса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Регламент работы сервиса приёма сообщений: роли и зоны ответственности, сроки по категориям, порядок эскалации, правила закрытия заявки.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Плюс памятки по ролям — для гражданина, исполнителя, руководителя направления и оператора панели.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Утверждается приказом администрации округа.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Разрабатывается 28–29.09.2026 — обязателен по методике и даёт балл на конкурсе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335379" y="-3011636"/>
            <a:ext cx="977933" cy="7648689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Дополнительная информация </a:t>
            </a:r>
            <a:endParaRPr/>
          </a:p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о проекте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12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" name="Таблица 8"/>
          <p:cNvGraphicFramePr>
            <a:graphicFrameLocks xmlns:a="http://schemas.openxmlformats.org/drawingml/2006/main" noGrp="1"/>
          </p:cNvGraphicFramePr>
          <p:nvPr/>
        </p:nvGraphicFramePr>
        <p:xfrm>
          <a:off x="652190" y="2005502"/>
          <a:ext cx="10693529" cy="39600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743648"/>
                <a:gridCol w="3566403"/>
                <a:gridCol w="6383478"/>
              </a:tblGrid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Наличие публикации о реализации проекта (соц.сети оив, местные, федеральные СМИ) - ссылка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—  готовится публикация о проекте на сайте округа и в социальных сетях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Масштабность проекта (в процессе задействованы (структурные подразделения ОИВ, иные ОИВ и подведомственные учреждения)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подразделение приёма сообщений, четыре направления с головными заместителями, подразделения-исполнители, Глава округа. Охват — 27 населённых пунктов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Источники проблематики при выборе темы проекта (обращения граждан, соц. значимость, межведомственное взаимодействие и т.д.)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Стандартизация результатов проекта (стандарт, регламент, алгоритм и т.д.) </a:t>
                      </a:r>
                      <a:endParaRPr/>
                    </a:p>
                    <a:p>
                      <a:pPr>
                        <a:defRPr/>
                      </a:pPr>
                      <a:endParaRPr lang="ru-RU" sz="1100">
                        <a:solidFill>
                          <a:schemeClr val="tx1"/>
                        </a:solidFill>
                        <a:latin typeface="Onest ExtraBold"/>
                        <a:ea typeface="+mn-ea"/>
                        <a:cs typeface="+mn-cs"/>
                      </a:endParaRP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 и памятки по ролям (разрабатываются, утверждаются приказом)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4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Реализация проекта с помощью цифровых решений 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Собственная разработка нового цифрового решения: мультиканальный сервис «Точка перемен» — Telegram и MAX, ИИ-классификация обращений, автоматическая маршрутизация, контроль сроков,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24055" y="2235512"/>
            <a:ext cx="360401" cy="36040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24055" y="3060849"/>
            <a:ext cx="395960" cy="39596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795801" y="3765144"/>
            <a:ext cx="440717" cy="44071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795802" y="4612028"/>
            <a:ext cx="403378" cy="40337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17291" y="5389433"/>
            <a:ext cx="409086" cy="4090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666998" y="-2666999"/>
            <a:ext cx="6858002" cy="12191999"/>
          </a:xfrm>
          <a:prstGeom prst="round2SameRect">
            <a:avLst>
              <a:gd name="adj1" fmla="val 0"/>
              <a:gd name="adj2" fmla="val 0"/>
            </a:avLst>
          </a:prstGeom>
          <a:blipFill>
            <a:blip r:embed="rId2">
              <a:alphaModFix amt="56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endParaRPr lang="ru-RU" sz="2400">
              <a:latin typeface="Onest Black"/>
            </a:endParaRPr>
          </a:p>
        </p:txBody>
      </p:sp>
      <p:sp>
        <p:nvSpPr>
          <p:cNvPr id="6" name="TextBox 5"/>
          <p:cNvSpPr txBox="1"/>
          <p:nvPr/>
        </p:nvSpPr>
        <p:spPr bwMode="auto">
          <a:xfrm>
            <a:off x="1753652" y="3008978"/>
            <a:ext cx="8684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2400">
                <a:latin typeface="Onest Black"/>
              </a:rPr>
              <a:t>СПАСИБО ЗА ВНИМАНИЕ!</a:t>
            </a:r>
            <a:endParaRPr lang="ru-RU" sz="2400">
              <a:latin typeface="Onest Black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Liberation Sans"/>
        <a:cs typeface="Liberation Sans"/>
      </a:majorFont>
      <a:minorFont>
        <a:latin typeface="Calibri"/>
        <a:ea typeface="Liberation Sans"/>
        <a:cs typeface="Liberation Sans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Р7-Офис/2025.3.2.1000</Application>
  <DocSecurity>0</DocSecurity>
  <PresentationFormat>Широкоэкранный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Надежда Вячеславовна Гребенюк</dc:creator>
  <cp:keywords/>
  <dc:description/>
  <dc:identifier/>
  <dc:language/>
  <cp:lastModifiedBy>adelina.aksenova</cp:lastModifiedBy>
  <cp:revision>86</cp:revision>
  <dcterms:created xsi:type="dcterms:W3CDTF">2024-11-14T01:51:24Z</dcterms:created>
  <dcterms:modified xsi:type="dcterms:W3CDTF">2026-09-15T07:22:29Z</dcterms:modified>
  <cp:category/>
  <cp:contentStatus/>
  <cp:version/>
</cp:coreProperties>
</file>