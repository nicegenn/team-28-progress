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Оптимизация процесса приёма, маршрутизации и контроля исполнения сообщений граждан о проблемах благоустройства и жизнеобеспечения на территории Благовещенского муниципального округа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приём сообщений, четыре направления, подразделения-исполнители, Глава округа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поступления сообщения гражданина о проблеме благоустройства или жизнеобеспечения — до подтверждения гражданином устранения и выставления оценки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сообщения граждан поступают по разрозненным каналам — телефон приёмной, личный приём, письменные заявления, социальные сети. Регистрация, определение сути и адреса, поиск ответственного и передача поручения выполняются вручную; единый учёт сроков отсутствует, результат гражданину не сообщается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потеря и «зависание» сообщений при отсутствии сквозного учёта: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2770632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 процесса: сообщение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раб.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гражданином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 об одной и той же проблеме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336792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47" y="960120"/>
            <a:ext cx="10503802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Восемь видов потерь, выявленных в процессе. Классификация и порядок — официальные, по методике бережливого управления.</a:t>
            </a:r>
          </a:p>
        </p:txBody>
      </p:sp>
      <p:graphicFrame>
        <p:nvGraphicFramePr>
          <p:cNvPr id="908" name="Таблица 908"/>
          <p:cNvGraphicFramePr>
            <a:graphicFrameLocks noGrp="1"/>
          </p:cNvGraphicFramePr>
          <p:nvPr/>
        </p:nvGraphicFramePr>
        <p:xfrm>
          <a:off x="502920" y="1481328"/>
          <a:ext cx="11155680" cy="4608576"/>
        </p:xfrm>
        <a:graphic>
          <a:graphicData uri="http://schemas.openxmlformats.org/drawingml/2006/table">
            <a:tbl>
              <a:tblPr/>
              <a:tblGrid>
                <a:gridCol w="3246120"/>
                <a:gridCol w="7909560"/>
              </a:tblGrid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Вид потери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проявляется в процессе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 Перепроизводство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Несколько граждан сообщают об одной проблеме — по каждому заводится отдельная работа и отдельно выезжает исполнитель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 Лишние движения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Сотрудник вручную ищет, чья это зона ответственности, и поднимает историю прежних обращений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 Ненужная транспортировка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Суть пересказывается по цепочке: гражданин → приёмная → записка или звонок → исполнитель, с потерей деталей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4. Излишние запасы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Необработанные сообщения копятся в разных каналах и на разных столах, объём очереди никому не виден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5. Избыточная обработка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Одно сообщение переписывается трижды: в журнал, исполнителю, в 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6. Ожидание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Сообщение ждёт ручной регистрации и передачи; исполнение идёт без установленного срока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7. Переделка и брак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 без результата — гражданин обращается повторно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8. Неиспользование человеческого потенциала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Квалифицированный сотрудник занят механической регистрацией и диспетчеризацией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9" name="Поле 909"/>
          <p:cNvSpPr txBox="1"/>
          <p:nvPr/>
        </p:nvSpPr>
        <p:spPr>
          <a:xfrm>
            <a:off x="502920" y="6355080"/>
            <a:ext cx="1115568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Корневые причины — метод «5 почему» и диаграмма Исикавы — готовятся к 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10" name="Поле 910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целевого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Та же сетка, что у карты текущего состояния: сравнение читается глазом.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Проблемы («ежи») заменяются мероприятиями («облачками»), выноска внизу — «Предлагаемые решения», ВПП пересчитан.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01–03.09.2026 на основе карты текущего состояния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338328" y="1280160"/>
          <a:ext cx="11301984" cy="504748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гражданину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2" name="Поле 912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исполнители и сроки проставляются по приказу об открытии проекта и утверждаются вместе с планом (Приложение № 3)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237744" y="1581912"/>
          <a:ext cx="11576304" cy="4279392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двух мессенджерах — Telegram и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Сквозная дедупликация по координатам и адресу через оба канала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4" name="Таблица 914"/>
          <p:cNvGraphicFramePr>
            <a:graphicFrameLocks noGrp="1"/>
          </p:cNvGraphicFramePr>
          <p:nvPr/>
        </p:nvGraphicFramePr>
        <p:xfrm>
          <a:off x="374904" y="1325880"/>
          <a:ext cx="11292840" cy="4535424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6692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сообщения гражданина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раб. дн.; база — по хронометражу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мин.; база — по хронометражу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закрытие только с фото или отчётом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гражданином результата отработки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повторных обращений об одной и той же проблеме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считается по дедупликации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5" name="Поле 915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sp>
        <p:nvSpPr>
          <p:cNvPr id="916" name="Поле 916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Карта достигнутого состояния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Строится как карта текущего состояния, но без проблем и мероприятий — проверка того, что целевое состояние достигнуто.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Внизу — фактическое ВПП после внедрения, для сравнения с исходным.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Готовится 28.09.2026, после мониторинга достигнутых результатов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sp>
        <p:nvSpPr>
          <p:cNvPr id="917" name="Поле 917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принимались сообщения раньше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Схема или фотографии: телефон приёмной, личный приём, письменные заявления, комментарии в социальных сетях. Журнал регистрации, передача поручения запиской.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Скриншоты таблиц целиком не используем — из зала не читаются.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Материал собирается вместе с замерами «как было», 24–31.08.2026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sp>
        <p:nvSpPr>
          <p:cNvPr id="918" name="Поле 918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Как сообщения обрабатываются сейчас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Обезличенные экраны бота: приём сообщения с фото и геометкой, карточка заявки у исполнителя, уведомление гражданину «до / после» с оценкой. Панель администрации: срок на каждой заявке, карта, статистика по направлениям.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Крупные фрагменты интерфейса, а не экран целиком.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Здесь же диаграммы эффекта: сокращение времени протекания процесса и доля заявок, исполненных в срок.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Скриншоты — к 15.09.2026, диаграммы — после мониторинга, 24–28.09.2026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19" name="Поле 919"/>
          <p:cNvSpPr txBox="1"/>
          <p:nvPr/>
        </p:nvSpPr>
        <p:spPr>
          <a:xfrm>
            <a:off x="822960" y="214884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6C5CE0"/>
            </a:solidFill>
            <a:prstDash val="dash"/>
          </a:ln>
        </p:spPr>
        <p:txBody>
          <a:bodyPr anchor="ctr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00"/>
              </a:spcAft>
              <a:buNone/>
            </a:pPr>
            <a:r>
              <a:rPr lang="ru-RU" sz="1400" b="1" dirty="0">
                <a:solidFill>
                  <a:srgbClr val="6C5CE0"/>
                </a:solidFill>
                <a:latin typeface="Onest Black" pitchFamily="2" charset="-52"/>
              </a:rPr>
              <a:t xml:space="preserve">Стандарт улучшенного процесса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работы сервиса приёма сообщений: роли и зоны ответственности, сроки по категориям, порядок эскалации, правила закрытия заявки.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Плюс памятки по ролям — для гражданина, исполнителя, руководителя направления и оператора панели.</a:t>
            </a:r>
          </a:p>
          <a:p>
            <a:pPr algn="l" marL="0" indent="0">
              <a:lnSpc>
                <a:spcPct val="110000"/>
              </a:lnSpc>
              <a:spcAft>
                <a:spcPts val="200"/>
              </a:spcAft>
              <a:buNone/>
            </a:pPr>
            <a:r>
              <a:rPr lang="ru-RU" sz="1100" b="0" dirty="0">
                <a:solidFill>
                  <a:srgbClr val="595959"/>
                </a:solidFill>
                <a:latin typeface="Onest Medium" pitchFamily="2" charset="-52"/>
              </a:rPr>
              <a:t xml:space="preserve">Утверждается приказом администрации округа.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0" dirty="0">
                <a:solidFill>
                  <a:srgbClr val="6C5CE0"/>
                </a:solidFill>
                <a:latin typeface="Onest Medium" pitchFamily="2" charset="-52"/>
              </a:rPr>
              <a:t xml:space="preserve">Разрабатывается 28–29.09.2026 — обязателен по методике и даёт балл на конкурсе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мультиканальный сервис «Точка перемен» — Telegram и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