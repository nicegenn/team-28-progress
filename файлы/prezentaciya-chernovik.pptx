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69" r:id="rId16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  <a:prstDash val="dashDot"/>
            </a:ln>
          </a:left>
          <a:right>
            <a:ln w="12700">
              <a:solidFill>
                <a:schemeClr val="lt1"/>
              </a:solidFill>
              <a:prstDash val="dashDot"/>
            </a:ln>
          </a:right>
          <a:top>
            <a:ln w="12700">
              <a:solidFill>
                <a:schemeClr val="lt1"/>
              </a:solidFill>
              <a:prstDash val="dashDot"/>
            </a:ln>
          </a:top>
          <a:bottom>
            <a:ln w="12700">
              <a:solidFill>
                <a:schemeClr val="lt1"/>
              </a:solidFill>
              <a:prstDash val="dashDot"/>
            </a:ln>
          </a:bottom>
          <a:insideH>
            <a:ln w="12700">
              <a:solidFill>
                <a:schemeClr val="lt1"/>
              </a:solidFill>
              <a:prstDash val="dashDot"/>
            </a:ln>
          </a:insideH>
          <a:insideV>
            <a:ln w="12700">
              <a:solidFill>
                <a:schemeClr val="lt1"/>
              </a:solidFill>
              <a:prstDash val="dashDot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  <a:prstDash val="dashDot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  <a:prstDash val="dashDot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88" d="100"/>
          <a:sy n="88" d="100"/>
        </p:scale>
        <p:origin x="96" y="564"/>
      </p:cViewPr>
      <p:guideLst>
        <p:guide pos="504" orient="horz"/>
        <p:guide pos="211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6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2"/>
          <a:srcRect l="0" t="0" r="47325" b="0"/>
          <a:stretch/>
        </p:blipFill>
        <p:spPr bwMode="auto">
          <a:xfrm>
            <a:off x="1" y="0"/>
            <a:ext cx="2329528" cy="6858000"/>
          </a:xfrm>
          <a:custGeom>
            <a:avLst/>
            <a:gdLst>
              <a:gd name="connsiteX0" fmla="*/ 0 w 2329528"/>
              <a:gd name="connsiteY0" fmla="*/ 0 h 6858000"/>
              <a:gd name="connsiteX1" fmla="*/ 1938995 w 2329528"/>
              <a:gd name="connsiteY1" fmla="*/ 0 h 6858000"/>
              <a:gd name="connsiteX2" fmla="*/ 2329528 w 2329528"/>
              <a:gd name="connsiteY2" fmla="*/ 390533 h 6858000"/>
              <a:gd name="connsiteX3" fmla="*/ 2329528 w 2329528"/>
              <a:gd name="connsiteY3" fmla="*/ 6467467 h 6858000"/>
              <a:gd name="connsiteX4" fmla="*/ 1938995 w 2329528"/>
              <a:gd name="connsiteY4" fmla="*/ 6858000 h 6858000"/>
              <a:gd name="connsiteX5" fmla="*/ 0 w 2329528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29528" h="6858000" fill="norm" stroke="1" extrusionOk="0">
                <a:moveTo>
                  <a:pt x="0" y="0"/>
                </a:moveTo>
                <a:lnTo>
                  <a:pt x="1938995" y="0"/>
                </a:lnTo>
                <a:cubicBezTo>
                  <a:pt x="2154680" y="0"/>
                  <a:pt x="2329528" y="174848"/>
                  <a:pt x="2329528" y="390533"/>
                </a:cubicBezTo>
                <a:lnTo>
                  <a:pt x="2329528" y="6467467"/>
                </a:lnTo>
                <a:cubicBezTo>
                  <a:pt x="2329528" y="6683152"/>
                  <a:pt x="2154680" y="6858000"/>
                  <a:pt x="1938995" y="6858000"/>
                </a:cubicBez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TextBox 6"/>
          <p:cNvSpPr txBox="1"/>
          <p:nvPr/>
        </p:nvSpPr>
        <p:spPr>
          <a:xfrm>
            <a:off x="2394266" y="1639886"/>
            <a:ext cx="98624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 xml:space="preserve">Оптимизация процесса устранения проблем благоустройства и содержания территории Благовещенского муниципального округа за счёт перехода от реагирования на обращения к их плановому выявлению и контролю результата</a:t>
            </a:r>
            <a:endParaRPr lang="ru-RU" sz="2400" dirty="0">
              <a:latin typeface="Onest Black" pitchFamily="2" charset="-52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069507" y="1316205"/>
            <a:ext cx="6382512" cy="0"/>
          </a:xfrm>
          <a:prstGeom prst="line">
            <a:avLst/>
          </a:prstGeom>
          <a:ln w="3175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3161" y="2409579"/>
            <a:ext cx="1924980" cy="211676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329528" y="924124"/>
            <a:ext cx="986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Onest Regular" pitchFamily="2" charset="-52"/>
              </a:rPr>
              <a:t>Отчетная презентация проекта</a:t>
            </a:r>
          </a:p>
        </p:txBody>
      </p:sp>
      <p:sp>
        <p:nvSpPr>
          <p:cNvPr id="26" name="Прямоугольник 25"/>
          <p:cNvSpPr/>
          <p:nvPr/>
        </p:nvSpPr>
        <p:spPr>
          <a:xfrm>
            <a:off x="7543800" y="4710127"/>
            <a:ext cx="40324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nest Medium" pitchFamily="2" charset="-52"/>
              </a:rPr>
              <a:t>ДОКЛАДЧИК: Уваров Геннадий Геннадьевич</a:t>
            </a:r>
          </a:p>
          <a:p>
            <a:endParaRPr lang="ru-RU" sz="1600" dirty="0">
              <a:solidFill>
                <a:schemeClr val="tx1">
                  <a:lumMod val="75000"/>
                  <a:lumOff val="25000"/>
                </a:schemeClr>
              </a:solidFill>
              <a:latin typeface="Onest Medium" pitchFamily="2" charset="-52"/>
            </a:endParaRP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nest Medium" pitchFamily="2" charset="-52"/>
              </a:rPr>
              <a:t>ОРГАНИЗАЦИЯ: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nest Medium" pitchFamily="2" charset="-52"/>
              </a:rPr>
              <a:t>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nest Medium" pitchFamily="2" charset="-52"/>
              </a:rPr>
              <a:t>Администрация Благовещенского муниципального округа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51389" y="2948953"/>
            <a:ext cx="182675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4800">
                <a:solidFill>
                  <a:schemeClr val="bg1"/>
                </a:solidFill>
                <a:latin typeface="Onest Black"/>
              </a:rPr>
              <a:t>202</a:t>
            </a:r>
            <a:r>
              <a:rPr lang="en-US" sz="4800">
                <a:solidFill>
                  <a:schemeClr val="bg1"/>
                </a:solidFill>
                <a:latin typeface="Onest Black"/>
              </a:rPr>
              <a:t>6</a:t>
            </a:r>
            <a:endParaRPr lang="ru-RU" sz="3200">
              <a:solidFill>
                <a:schemeClr val="bg1"/>
              </a:solidFill>
              <a:latin typeface="Onest Black"/>
            </a:endParaRPr>
          </a:p>
        </p:txBody>
      </p:sp>
      <p:sp>
        <p:nvSpPr>
          <p:cNvPr id="901" name="Поле 901"/>
          <p:cNvSpPr txBox="1"/>
          <p:nvPr/>
        </p:nvSpPr>
        <p:spPr>
          <a:xfrm>
            <a:off x="7360920" y="6236208"/>
            <a:ext cx="4526280" cy="54864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3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ПЕРИМЕТР ПРОЕКТА:</a:t>
            </a:r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Администрация Благовещенского муниципального округа: инициативные группы граждан, приём сообщений, три направления, подразделения-исполнители, Глава округа. Охват — 27 населённых пунктов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2"/>
          <p:cNvSpPr/>
          <p:nvPr/>
        </p:nvSpPr>
        <p:spPr bwMode="auto">
          <a:xfrm rot="5400000">
            <a:off x="1590789" y="-1267046"/>
            <a:ext cx="656216" cy="3837793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5" name="Заголовок 1"/>
          <p:cNvSpPr/>
          <p:nvPr/>
        </p:nvSpPr>
        <p:spPr bwMode="auto">
          <a:xfrm>
            <a:off x="53788" y="481749"/>
            <a:ext cx="3837792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КАРТОЧКА ПРОЕКТА</a:t>
            </a:r>
            <a:endParaRPr/>
          </a:p>
        </p:txBody>
      </p:sp>
      <p:grpSp>
        <p:nvGrpSpPr>
          <p:cNvPr id="3" name="Группа 2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2" name="Овал 1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7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1</a:t>
              </a:r>
              <a:endParaRPr lang="ru-RU" sz="2400">
                <a:latin typeface="Onest ExtraBold"/>
              </a:endParaRPr>
            </a:p>
          </p:txBody>
        </p:sp>
      </p:grpSp>
      <p:graphicFrame>
        <p:nvGraphicFramePr>
          <p:cNvPr id="902" name="Таблица 902"/>
          <p:cNvGraphicFramePr>
            <a:graphicFrameLocks noGrp="1"/>
          </p:cNvGraphicFramePr>
          <p:nvPr/>
        </p:nvGraphicFramePr>
        <p:xfrm>
          <a:off x="265176" y="960120"/>
          <a:ext cx="11704320" cy="2496312"/>
        </p:xfrm>
        <a:graphic>
          <a:graphicData uri="http://schemas.openxmlformats.org/drawingml/2006/table">
            <a:tbl>
              <a:tblPr/>
              <a:tblGrid>
                <a:gridCol w="6355080"/>
                <a:gridCol w="210312"/>
                <a:gridCol w="5138928"/>
              </a:tblGrid>
              <a:tr h="256032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1. ВОВЛЕЧЁННЫЕ ЛИЦА И РАМКИ ПРОЕКТА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2. ОБОСНОВАНИЕ ВЫБОРА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Заказчик процесса: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Администрация Благовещенского муниципального округа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Границы проекта: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от возникновения проблемы содержания территории округа — до подтверждённого устранения проблемы и оценки результата жителем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Периметр проекта: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администрация Благовещенского муниципального округа: инициативные группы граждан, выявляющие проблемы на территории; подразделение приёма сообщений; три направления (УДС, Благоустройство, ЖКХ) и подразделения-исполнители; Глава округа — контроль сроков и эскалация. Охват — 27 населённых пунктов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Владелец процесса: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Башун Александр Александрович — глава Благовещенского муниципального округа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Руководитель проекта: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Уваров Геннадий Геннадьевич — начальник отдела информационного обслуживания Финансового управления администрации Благовещенского округа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Команда проекта: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«Лидеры перемен», 5 чел.: Уваров Г.Г. (капитан) · Вихрова А.В. (МБУ «Информационный центр») · Воронцова Д.С. (благоустройство, УЖКХ) · Комчадалова А.А. (архитектура и градостроительство) · Степаненко А.О. (советник главы)</a:t>
                      </a:r>
                    </a:p>
                  </a:txBody>
                  <a:tcPr marL="45720" marR="45720" marT="27432" marB="27432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Описание проблемы: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плановое выявление проблем не ведётся — проблема попадает в работу после обращения жителя; канала для сообщений от инициативных групп граждан не предусмотрено; весь объём обращений вручную распределяет Глава округа; срок рассмотрения — 30 календарных дней, единый для обращений любой сложности; распределение проблем по объектам возникновения не ведётся; связь с заявителем ограничена письменным ответом по итогам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Источник проблематики: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инцидент-менеджмент — массовые обращения граждан о состоянии территории округа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Ключевой риск: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устранение проблемы начинается после обращения жителя; срок рассмотрения не зависит от сложности обращения; повторные обращения об одном объекте исполняются как отдельные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Влияние на цели и задачи: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содержание территории округа; клиентоцентричность — федеральный проект «Государство для людей»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11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Тиражируемость: </a:t>
                      </a: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процесс исполняется во всех муниципальных образованиях области</a:t>
                      </a:r>
                    </a:p>
                  </a:txBody>
                  <a:tcPr marL="45720" marR="45720" marT="27432" marB="27432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3" name="Таблица 903"/>
          <p:cNvGraphicFramePr>
            <a:graphicFrameLocks noGrp="1"/>
          </p:cNvGraphicFramePr>
          <p:nvPr/>
        </p:nvGraphicFramePr>
        <p:xfrm>
          <a:off x="347472" y="3383280"/>
          <a:ext cx="5029200" cy="2304288"/>
        </p:xfrm>
        <a:graphic>
          <a:graphicData uri="http://schemas.openxmlformats.org/drawingml/2006/table">
            <a:tbl>
              <a:tblPr/>
              <a:tblGrid>
                <a:gridCol w="2816352"/>
                <a:gridCol w="694944"/>
                <a:gridCol w="603504"/>
                <a:gridCol w="914400"/>
              </a:tblGrid>
              <a:tr h="246888">
                <a:tc gridSpan="4"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3. ЦЕЛИ И ПЛАНОВЫЙ ЭФФЕКТ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Показатель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Ед. изм.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База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Цель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Обращения граждан по благоустройству и ЖКХ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шт./мес.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40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снижение ≥ 30 %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Время протекания процесса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календ. дн.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10 — 44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сокращение ≥ 50 %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Проблемы, выявленные до обращения жителя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%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≥ 50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Заявки с фотофиксацией устранения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%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100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Трудозатраты на регистрацию сообщения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мин.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15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≤ 1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BFA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Средняя оценка жителем результата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балл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не изм.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≥ 4,0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04" name="Таблица 904"/>
          <p:cNvGraphicFramePr>
            <a:graphicFrameLocks noGrp="1"/>
          </p:cNvGraphicFramePr>
          <p:nvPr/>
        </p:nvGraphicFramePr>
        <p:xfrm>
          <a:off x="5641848" y="3584448"/>
          <a:ext cx="6428232" cy="3218688"/>
        </p:xfrm>
        <a:graphic>
          <a:graphicData uri="http://schemas.openxmlformats.org/drawingml/2006/table">
            <a:tbl>
              <a:tblPr/>
              <a:tblGrid>
                <a:gridCol w="4507992"/>
                <a:gridCol w="960120"/>
                <a:gridCol w="960120"/>
              </a:tblGrid>
              <a:tr h="246888">
                <a:tc gridSpan="3"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4. КЛЮЧЕВЫЕ СОБЫТИЯ ПРОЕКТА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Наименование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Начало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Окончание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>
                      <a:solidFill>
                        <a:srgbClr val="9D8DFF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Старт проекта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22.07.2026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31.07.2026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1. Диагностика и целевое состояние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2DD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03.08.2026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2DD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04.09.2026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2DD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1.1. Разработка карты текущего состояния процесса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24.08.2026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31.08.2026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1.2. Сбор фактических данных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03.08.2026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24.08.2026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1.3. Разработка карты целевого состояния процесса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01.09.2026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03.09.2026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1.4. Разработка плана мероприятий по реализации проекта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03.09.2026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04.09.2026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2. Реализация плана мероприятий по реализации проекта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2DD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07.09.2026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2DD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23.09.2026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2DD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2.1. Совещание по защите подходов внедрения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07.09.2026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07.09.2026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2.2. Внедрение мероприятий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08.09.2026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23.09.2026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3. Анализ результатов и закрытие проекта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2DD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24.09.2026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2DD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30.09.2026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2DD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3.1. Мониторинг достигнутых результатов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24.09.2026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25.09.2026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3.2. Оформление карты достигнутого состояния процесса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28.09.2026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28.09.2026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3.3. Разработка стандарта (норматива) и тиражирование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28.09.2026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29.09.2026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3.4. Закрытие проекта (отчёт руководителю)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30.09.2026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30.09.2026</a:t>
                      </a:r>
                    </a:p>
                  </a:txBody>
                  <a:tcPr marL="45720" marR="45720" marT="27432" marB="27432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9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КАРТА ТЕКУЩЕГО СОСТОЯНИЯ</a:t>
            </a:r>
            <a:endParaRPr lang="ru-RU" sz="2400">
              <a:latin typeface="Onest Black"/>
            </a:endParaRPr>
          </a:p>
        </p:txBody>
      </p:sp>
      <p:grpSp>
        <p:nvGrpSpPr>
          <p:cNvPr id="16" name="Группа 1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7" name="Овал 1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>
                  <a:latin typeface="Onest ExtraBold"/>
                </a:rPr>
                <a:t>2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905" name="Рисунок 9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47" y="960120"/>
            <a:ext cx="10503802" cy="5779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1452283" y="-1128540"/>
            <a:ext cx="656216" cy="356078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АНАЛИЗ ПРОБЛЕМ</a:t>
            </a:r>
            <a:endParaRPr lang="ru-RU" sz="2400">
              <a:latin typeface="Onest Black"/>
            </a:endParaRPr>
          </a:p>
        </p:txBody>
      </p:sp>
      <p:grpSp>
        <p:nvGrpSpPr>
          <p:cNvPr id="9" name="Группа 8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0" name="Овал 9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1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3</a:t>
              </a:r>
              <a:endParaRPr lang="ru-RU" sz="2400">
                <a:latin typeface="Onest ExtraBold"/>
              </a:endParaRPr>
            </a:p>
          </p:txBody>
        </p:sp>
      </p:grpSp>
      <p:sp>
        <p:nvSpPr>
          <p:cNvPr id="906" name="Поле 906"/>
          <p:cNvSpPr txBox="1"/>
          <p:nvPr/>
        </p:nvSpPr>
        <p:spPr>
          <a:xfrm>
            <a:off x="8705088" y="960120"/>
            <a:ext cx="3218688" cy="5779008"/>
          </a:xfrm>
          <a:prstGeom prst="roundRect">
            <a:avLst>
              <a:gd name="adj" fmla="val 4000"/>
            </a:avLst>
          </a:prstGeom>
          <a:solidFill>
            <a:srgbClr val="F7F6FE"/>
          </a:solidFill>
          <a:ln w="12700">
            <a:solidFill>
              <a:srgbClr val="C9C2EE"/>
            </a:solidFill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80"/>
              </a:spcAft>
              <a:buNone/>
            </a:pPr>
            <a:r>
              <a:rPr lang="ru-RU" sz="850" b="1" dirty="0">
                <a:solidFill>
                  <a:srgbClr val="6C5CE0"/>
                </a:solidFill>
                <a:latin typeface="Onest Black" pitchFamily="2" charset="-52"/>
              </a:rPr>
              <a:t xml:space="preserve">ВОСЕМЬ ВИДОВ ПОТЕРЬ</a:t>
            </a:r>
          </a:p>
          <a:p>
            <a:pPr algn="l" marL="0" indent="0">
              <a:lnSpc>
                <a:spcPct val="100000"/>
              </a:lnSpc>
              <a:spcAft>
                <a:spcPts val="120"/>
              </a:spcAft>
              <a:buNone/>
            </a:pPr>
            <a:r>
              <a:rPr lang="ru-RU" sz="780" b="1" dirty="0">
                <a:solidFill>
                  <a:srgbClr val="000000"/>
                </a:solidFill>
                <a:latin typeface="Onest Black" pitchFamily="2" charset="-52"/>
              </a:rPr>
              <a:t xml:space="preserve">1. Перепроизводство — </a:t>
            </a:r>
            <a:r>
              <a:rPr lang="ru-RU" sz="780" b="0" dirty="0">
                <a:solidFill>
                  <a:srgbClr val="595959"/>
                </a:solidFill>
                <a:latin typeface="Onest Medium" pitchFamily="2" charset="-52"/>
              </a:rPr>
              <a:t xml:space="preserve">по каждому сообщению об одной проблеме заводится отдельная работа</a:t>
            </a:r>
          </a:p>
          <a:p>
            <a:pPr algn="l" marL="0" indent="0">
              <a:lnSpc>
                <a:spcPct val="100000"/>
              </a:lnSpc>
              <a:spcAft>
                <a:spcPts val="120"/>
              </a:spcAft>
              <a:buNone/>
            </a:pPr>
            <a:r>
              <a:rPr lang="ru-RU" sz="780" b="1" dirty="0">
                <a:solidFill>
                  <a:srgbClr val="000000"/>
                </a:solidFill>
                <a:latin typeface="Onest Black" pitchFamily="2" charset="-52"/>
              </a:rPr>
              <a:t xml:space="preserve">2. Лишние движения — </a:t>
            </a:r>
            <a:r>
              <a:rPr lang="ru-RU" sz="780" b="0" dirty="0">
                <a:solidFill>
                  <a:srgbClr val="595959"/>
                </a:solidFill>
                <a:latin typeface="Onest Medium" pitchFamily="2" charset="-52"/>
              </a:rPr>
              <a:t xml:space="preserve">зона ответственности и история обращений ищутся вручную</a:t>
            </a:r>
          </a:p>
          <a:p>
            <a:pPr algn="l" marL="0" indent="0">
              <a:lnSpc>
                <a:spcPct val="100000"/>
              </a:lnSpc>
              <a:spcAft>
                <a:spcPts val="120"/>
              </a:spcAft>
              <a:buNone/>
            </a:pPr>
            <a:r>
              <a:rPr lang="ru-RU" sz="780" b="1" dirty="0">
                <a:solidFill>
                  <a:srgbClr val="000000"/>
                </a:solidFill>
                <a:latin typeface="Onest Black" pitchFamily="2" charset="-52"/>
              </a:rPr>
              <a:t xml:space="preserve">3. Ненужная транспортировка — </a:t>
            </a:r>
            <a:r>
              <a:rPr lang="ru-RU" sz="780" b="0" dirty="0">
                <a:solidFill>
                  <a:srgbClr val="595959"/>
                </a:solidFill>
                <a:latin typeface="Onest Medium" pitchFamily="2" charset="-52"/>
              </a:rPr>
              <a:t xml:space="preserve">суть пересказывается по цепочке, детали теряются</a:t>
            </a:r>
          </a:p>
          <a:p>
            <a:pPr algn="l" marL="0" indent="0">
              <a:lnSpc>
                <a:spcPct val="100000"/>
              </a:lnSpc>
              <a:spcAft>
                <a:spcPts val="120"/>
              </a:spcAft>
              <a:buNone/>
            </a:pPr>
            <a:r>
              <a:rPr lang="ru-RU" sz="780" b="1" dirty="0">
                <a:solidFill>
                  <a:srgbClr val="000000"/>
                </a:solidFill>
                <a:latin typeface="Onest Black" pitchFamily="2" charset="-52"/>
              </a:rPr>
              <a:t xml:space="preserve">4. Излишние запасы — </a:t>
            </a:r>
            <a:r>
              <a:rPr lang="ru-RU" sz="780" b="0" dirty="0">
                <a:solidFill>
                  <a:srgbClr val="595959"/>
                </a:solidFill>
                <a:latin typeface="Onest Medium" pitchFamily="2" charset="-52"/>
              </a:rPr>
              <a:t xml:space="preserve">очередь 2–8 сообщений, объём работы никому не виден</a:t>
            </a:r>
          </a:p>
          <a:p>
            <a:pPr algn="l" marL="0" indent="0">
              <a:lnSpc>
                <a:spcPct val="100000"/>
              </a:lnSpc>
              <a:spcAft>
                <a:spcPts val="120"/>
              </a:spcAft>
              <a:buNone/>
            </a:pPr>
            <a:r>
              <a:rPr lang="ru-RU" sz="780" b="1" dirty="0">
                <a:solidFill>
                  <a:srgbClr val="000000"/>
                </a:solidFill>
                <a:latin typeface="Onest Black" pitchFamily="2" charset="-52"/>
              </a:rPr>
              <a:t xml:space="preserve">5. Избыточная обработка — </a:t>
            </a:r>
            <a:r>
              <a:rPr lang="ru-RU" sz="780" b="0" dirty="0">
                <a:solidFill>
                  <a:srgbClr val="595959"/>
                </a:solidFill>
                <a:latin typeface="Onest Medium" pitchFamily="2" charset="-52"/>
              </a:rPr>
              <a:t xml:space="preserve">одно сообщение переписывается трижды</a:t>
            </a:r>
          </a:p>
          <a:p>
            <a:pPr algn="l" marL="0" indent="0">
              <a:lnSpc>
                <a:spcPct val="100000"/>
              </a:lnSpc>
              <a:spcAft>
                <a:spcPts val="120"/>
              </a:spcAft>
              <a:buNone/>
            </a:pPr>
            <a:r>
              <a:rPr lang="ru-RU" sz="780" b="1" dirty="0">
                <a:solidFill>
                  <a:srgbClr val="000000"/>
                </a:solidFill>
                <a:latin typeface="Onest Black" pitchFamily="2" charset="-52"/>
              </a:rPr>
              <a:t xml:space="preserve">6. Ожидание — </a:t>
            </a:r>
            <a:r>
              <a:rPr lang="ru-RU" sz="780" b="0" dirty="0">
                <a:solidFill>
                  <a:srgbClr val="595959"/>
                </a:solidFill>
                <a:latin typeface="Onest Medium" pitchFamily="2" charset="-52"/>
              </a:rPr>
              <a:t xml:space="preserve">ГЛАВНАЯ: до 14 дней проблема не выявлена и ещё до 30 — рассмотрение</a:t>
            </a:r>
          </a:p>
          <a:p>
            <a:pPr algn="l" marL="0" indent="0">
              <a:lnSpc>
                <a:spcPct val="100000"/>
              </a:lnSpc>
              <a:spcAft>
                <a:spcPts val="120"/>
              </a:spcAft>
              <a:buNone/>
            </a:pPr>
            <a:r>
              <a:rPr lang="ru-RU" sz="780" b="1" dirty="0">
                <a:solidFill>
                  <a:srgbClr val="000000"/>
                </a:solidFill>
                <a:latin typeface="Onest Black" pitchFamily="2" charset="-52"/>
              </a:rPr>
              <a:t xml:space="preserve">7. Переделка и брак — </a:t>
            </a:r>
            <a:r>
              <a:rPr lang="ru-RU" sz="780" b="0" dirty="0">
                <a:solidFill>
                  <a:srgbClr val="595959"/>
                </a:solidFill>
                <a:latin typeface="Onest Medium" pitchFamily="2" charset="-52"/>
              </a:rPr>
              <a:t xml:space="preserve">фотофиксация устранения не предусмотрена — обращение поступает повторно</a:t>
            </a:r>
          </a:p>
          <a:p>
            <a:pPr algn="l" marL="0" indent="0">
              <a:lnSpc>
                <a:spcPct val="100000"/>
              </a:lnSpc>
              <a:spcAft>
                <a:spcPts val="120"/>
              </a:spcAft>
              <a:buNone/>
            </a:pPr>
            <a:r>
              <a:rPr lang="ru-RU" sz="780" b="1" dirty="0">
                <a:solidFill>
                  <a:srgbClr val="000000"/>
                </a:solidFill>
                <a:latin typeface="Onest Black" pitchFamily="2" charset="-52"/>
              </a:rPr>
              <a:t xml:space="preserve">8. Неиспользование потенциала — </a:t>
            </a:r>
            <a:r>
              <a:rPr lang="ru-RU" sz="780" b="0" dirty="0">
                <a:solidFill>
                  <a:srgbClr val="595959"/>
                </a:solidFill>
                <a:latin typeface="Onest Medium" pitchFamily="2" charset="-52"/>
              </a:rPr>
              <a:t xml:space="preserve">сообщения инициативных групп в процесс не поступают; объём обращений распределяет Глава округа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700" b="0" dirty="0">
                <a:solidFill>
                  <a:srgbClr val="595959"/>
                </a:solidFill>
                <a:latin typeface="Onest Medium" pitchFamily="2" charset="-52"/>
              </a:rPr>
              <a:t xml:space="preserve">Классификация и порядок — обучающая презентация «Эффективного региона». Привязка к этапам — на карте текущего состояния.</a:t>
            </a:r>
          </a:p>
        </p:txBody>
      </p:sp>
      <p:pic>
        <p:nvPicPr>
          <p:cNvPr id="907" name="Рисунок 9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" y="963994"/>
            <a:ext cx="8275320" cy="5771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7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КАРТА ЦЕЛЕВОГО СОСТОЯНИЯ</a:t>
            </a:r>
            <a:endParaRPr lang="ru-RU" sz="2400">
              <a:latin typeface="Onest Black"/>
            </a:endParaRPr>
          </a:p>
        </p:txBody>
      </p:sp>
      <p:grpSp>
        <p:nvGrpSpPr>
          <p:cNvPr id="11" name="Группа 10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2" name="Овал 11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3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4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908" name="Рисунок 9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516" y="960120"/>
            <a:ext cx="9981064" cy="5779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1678193" y="-1354451"/>
            <a:ext cx="656216" cy="4012601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ПЛАН МЕРОПРИЯТИЙ</a:t>
            </a:r>
            <a:endParaRPr lang="ru-RU" sz="2400">
              <a:latin typeface="Onest Black"/>
            </a:endParaRPr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7" name="Овал 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6</a:t>
              </a:r>
              <a:endParaRPr/>
            </a:p>
          </p:txBody>
        </p:sp>
      </p:grpSp>
      <p:graphicFrame>
        <p:nvGraphicFramePr>
          <p:cNvPr id="909" name="Таблица 909"/>
          <p:cNvGraphicFramePr>
            <a:graphicFrameLocks noGrp="1"/>
          </p:cNvGraphicFramePr>
          <p:nvPr/>
        </p:nvGraphicFramePr>
        <p:xfrm>
          <a:off x="338328" y="1225296"/>
          <a:ext cx="11301984" cy="4864608"/>
        </p:xfrm>
        <a:graphic>
          <a:graphicData uri="http://schemas.openxmlformats.org/drawingml/2006/table">
            <a:tbl>
              <a:tblPr/>
              <a:tblGrid>
                <a:gridCol w="640080"/>
                <a:gridCol w="2651760"/>
                <a:gridCol w="3566160"/>
                <a:gridCol w="2249424"/>
                <a:gridCol w="2194560"/>
              </a:tblGrid>
              <a:tr h="694944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№ п/п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Описание проблемы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Мероприятия по решению проблем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Ответственные исполнители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Срок выполнения мероприятий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Проблема выявляется только по жалобе жителя: планового обхода территории нет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Инициативные группы граждан: получают роль в сервисе и подают заявки по итогам обхода территории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Степаненко А.О.</a:t>
                      </a:r>
                    </a:p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Воронцова Д.С.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08.09 — 19.09.2026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Разрозненные каналы приёма, ручная регистрация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Единый цифровой канал приёма в мессенджере MAX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Уваров Г.Г.</a:t>
                      </a:r>
                    </a:p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Степаненко А.О.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08.09 — 12.09.2026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Ручное определение сути, адреса и ответственного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ИИ-классификация обращения, каскад геопривязки, слова-подсказки категорий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Уваров Г.Г.</a:t>
                      </a:r>
                    </a:p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Вихрова А.В.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08.09 — 16.09.2026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4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Потеря сообщений при передаче, отсутствие учёта сроков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Маршрутизация по цепочкам ответственных, SLA-таймеры, ступенчатая эскалация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Воронцова Д.С.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14.09 — 19.09.2026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5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Дублирование работ по повторным обращениям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Дедупликация по координатам и нормализованному адресу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Уваров Г.Г.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15.09 — 19.09.2026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6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Формальное закрытие, отсутствие обратной связи автору заявки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Доказательное закрытие с фотоматериалом, уведомление автора, оценка 1–5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Комчадалова А.А.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16.09 — 23.09.2026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0" name="Поле 910"/>
          <p:cNvSpPr txBox="1"/>
          <p:nvPr/>
        </p:nvSpPr>
        <p:spPr>
          <a:xfrm>
            <a:off x="338328" y="6263640"/>
            <a:ext cx="11338560" cy="36576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950" b="0" dirty="0">
                <a:solidFill>
                  <a:srgbClr val="6C5CE0"/>
                </a:solidFill>
                <a:latin typeface="Onest Medium" pitchFamily="2" charset="-52"/>
              </a:rPr>
              <a:t xml:space="preserve">Ответственные — состав проектной команды по распоряжению администрации округа от 24.09.2026 № 534-р. Сроки внутри этапа «Внедрение мероприятий», 08.09 — 23.09.2026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1796528" y="-1472785"/>
            <a:ext cx="656216" cy="424927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РЕЗУЛЬТАТЫ ПРОЕКТА</a:t>
            </a:r>
            <a:endParaRPr lang="ru-RU" sz="2400">
              <a:latin typeface="Onest Black"/>
            </a:endParaRPr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7" name="Овал 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7</a:t>
              </a:r>
              <a:endParaRPr/>
            </a:p>
          </p:txBody>
        </p:sp>
      </p:grpSp>
      <p:graphicFrame>
        <p:nvGraphicFramePr>
          <p:cNvPr id="911" name="Таблица 911"/>
          <p:cNvGraphicFramePr>
            <a:graphicFrameLocks noGrp="1"/>
          </p:cNvGraphicFramePr>
          <p:nvPr/>
        </p:nvGraphicFramePr>
        <p:xfrm>
          <a:off x="237744" y="1490472"/>
          <a:ext cx="11576304" cy="4608576"/>
        </p:xfrm>
        <a:graphic>
          <a:graphicData uri="http://schemas.openxmlformats.org/drawingml/2006/table">
            <a:tbl>
              <a:tblPr/>
              <a:tblGrid>
                <a:gridCol w="704088"/>
                <a:gridCol w="4581144"/>
                <a:gridCol w="6291072"/>
              </a:tblGrid>
              <a:tr h="658368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№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НАИМЕНОВАНИЕ МЕРОПРИЯТИЯ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РЕЗУЛЬТАТ МЕРОПРИЯТИЯ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Инициативные группы граждан: получают роль в сервисе и подают заявки по итогам обхода территории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Проблема попадает в работу до обращения жителя; ресурс активных жителей включён в процесс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2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Единый цифровой канал приёма в мессенджере MAX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Регистрация без участия сотрудника, время регистрации — секунды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3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ИИ-классификация обращения, каскад геопривязки, слова-подсказки категорий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Категория, адрес и срочность определяются автоматически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4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Маршрутизация по цепочкам ответственных, SLA-таймеры, ступенчатая эскалация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Доведение до исполнителя без ручной передачи и без резолюции; срок на каждой заявке, просрочка поднимается заместителю, затем Главе — сокращение времени протекания процесса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5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Дедупликация по координатам и нормализованному адресу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Обращения об одной проблеме склеиваются автоматически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6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Доказательное закрытие с фотоматериалом, уведомление автора, оценка 1–5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Оценка ≤ 2 автоматически возвращает заявку в работу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1791149" y="-1467406"/>
            <a:ext cx="656216" cy="4238512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РЕЗУЛЬТАТЫ ПРОЕКТА</a:t>
            </a:r>
            <a:endParaRPr lang="ru-RU" sz="2400">
              <a:latin typeface="Onest Black"/>
            </a:endParaRPr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7" name="Овал 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8</a:t>
              </a:r>
              <a:endParaRPr/>
            </a:p>
          </p:txBody>
        </p:sp>
      </p:grpSp>
      <p:graphicFrame>
        <p:nvGraphicFramePr>
          <p:cNvPr id="912" name="Таблица 912"/>
          <p:cNvGraphicFramePr>
            <a:graphicFrameLocks noGrp="1"/>
          </p:cNvGraphicFramePr>
          <p:nvPr/>
        </p:nvGraphicFramePr>
        <p:xfrm>
          <a:off x="374904" y="1280160"/>
          <a:ext cx="11292840" cy="3200400"/>
        </p:xfrm>
        <a:graphic>
          <a:graphicData uri="http://schemas.openxmlformats.org/drawingml/2006/table">
            <a:tbl>
              <a:tblPr/>
              <a:tblGrid>
                <a:gridCol w="3703320"/>
                <a:gridCol w="1371600"/>
                <a:gridCol w="1600200"/>
                <a:gridCol w="160020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ПОКАЗАТЕЛЬ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БАЗА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ЦЕЛЬ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ФАКТ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КОММЕНТАРИЙ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Количество обращений граждан по благоустройству и ЖКХ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40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снижение ≥ 30 %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C00000"/>
                          </a:solidFill>
                          <a:latin typeface="Onest Medium" pitchFamily="2" charset="-52"/>
                        </a:rPr>
                        <a:t xml:space="preserve">замер по итогам
квартала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шт./мес.; это обращения в документообороте, а не заявки: срок рассмотрения 30 дней, за два месяца пилота динамики нет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Время протекания процесса: от возникновения проблемы до подтверждённого устранения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10 — 44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сокращение ≥ 50 %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7A3D"/>
                          </a:solidFill>
                          <a:latin typeface="Onest Medium" pitchFamily="2" charset="-52"/>
                        </a:rPr>
                        <a:t xml:space="preserve">1 ч 08 мин —
7,5 дн.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календ. дн.; минимум — заявка № 68 по журналу событий, верх — сумма медиан реакции и работы по УДС за 90 дней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Доля проблем, выявленных до обращения жителя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≥ 50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C00000"/>
                          </a:solidFill>
                          <a:latin typeface="Onest Medium" pitchFamily="2" charset="-52"/>
                        </a:rPr>
                        <a:t xml:space="preserve">85 %
(11 из 13)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%; в пилоте заявки подавала в основном команда — на потоке доля будет ниже; цель 50 % от этого не меняется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Доля заявок с фотофиксацией устранения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0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100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C00000"/>
                          </a:solidFill>
                          <a:latin typeface="Onest Medium" pitchFamily="2" charset="-52"/>
                        </a:rPr>
                        <a:t xml:space="preserve">67 %
(4 из 6)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%; закрыть нельзя без фото ИЛИ отчёта, в двух случаях из шести был только отчёт. Обязательное фото закрепляется регламентом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Трудозатраты сотрудника на регистрацию одного сообщения и передачу исполнителю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15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≤ 1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7A3D"/>
                          </a:solidFill>
                          <a:latin typeface="Onest Medium" pitchFamily="2" charset="-52"/>
                        </a:rPr>
                        <a:t xml:space="preserve">0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мин.; регистрация, категория, адрес и маршрут к исполнителю — без участия сотрудника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Средняя оценка жителем результата, шкала 1–5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не измерялась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≥ 4,0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C00000"/>
                          </a:solidFill>
                          <a:latin typeface="Onest Medium" pitchFamily="2" charset="-52"/>
                        </a:rPr>
                        <a:t xml:space="preserve">5,0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5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балл по шкале 1–5; пока одна оценка. Переоткрытий жителем — 0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3" name="Поле 913"/>
          <p:cNvSpPr txBox="1"/>
          <p:nvPr/>
        </p:nvSpPr>
        <p:spPr>
          <a:xfrm>
            <a:off x="374904" y="6035040"/>
            <a:ext cx="11338560" cy="73152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"/>
              </a:spcAft>
              <a:buNone/>
            </a:pPr>
            <a:r>
              <a:rPr lang="ru-RU" sz="900" b="0" dirty="0">
                <a:solidFill>
                  <a:srgbClr val="007A3D"/>
                </a:solidFill>
                <a:latin typeface="Onest Medium" pitchFamily="2" charset="-52"/>
              </a:rPr>
              <a:t xml:space="preserve">Зелёным — значения, заданные устройством процесса и подтверждённые журналом заявок. </a:t>
            </a:r>
            <a:r>
              <a:rPr lang="ru-RU" sz="900" b="0" dirty="0">
                <a:solidFill>
                  <a:srgbClr val="C00000"/>
                </a:solidFill>
                <a:latin typeface="Onest Medium" pitchFamily="2" charset="-52"/>
              </a:rPr>
              <a:t xml:space="preserve">Красным — замеренные значения, которые требуют оговорки на защите: разбор каждого — в приложении к отчёту.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900" b="0" dirty="0">
                <a:solidFill>
                  <a:srgbClr val="595959"/>
                </a:solidFill>
                <a:latin typeface="Onest Medium" pitchFamily="2" charset="-52"/>
              </a:rPr>
              <a:t xml:space="preserve">Источник цифр — панель администрации округа, снимки экранов от 27.09.2026. Эффект проекта — 476 часов рабочего времени в год (60 рабочих дней): операции, которые выполнялись вручную и более не выполняются. Затраты на реализацию — 0 рублей: оборудование и лицензии не приобретались, подрядчик не привлекался, сервис работает на действующем сервере администрации, классификация — на бесплатном тарифе.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2888429" y="-2564686"/>
            <a:ext cx="656216" cy="6433072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КАРТА ДОСТИГНУТОГО СОСТОЯНИЯ</a:t>
            </a:r>
            <a:endParaRPr lang="ru-RU" sz="2400">
              <a:latin typeface="Onest Black"/>
            </a:endParaRPr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7" name="Овал 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5</a:t>
              </a:r>
              <a:endParaRPr/>
            </a:p>
          </p:txBody>
        </p:sp>
      </p:grpSp>
      <p:pic>
        <p:nvPicPr>
          <p:cNvPr id="914" name="Рисунок 9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842" y="960120"/>
            <a:ext cx="9836411" cy="5779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2872294" y="-2548551"/>
            <a:ext cx="656216" cy="6400801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ПРИЛОЖЕНИЕ. Эффект от внедрения</a:t>
            </a:r>
            <a:endParaRPr lang="ru-RU" sz="2400">
              <a:latin typeface="Onest Black"/>
            </a:endParaRPr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334963" y="1306044"/>
            <a:ext cx="1387736" cy="594477"/>
            <a:chOff x="2355925" y="1796528"/>
            <a:chExt cx="1387736" cy="594477"/>
          </a:xfrm>
        </p:grpSpPr>
        <p:sp>
          <p:nvSpPr>
            <p:cNvPr id="7" name="Прямоугольник 2"/>
            <p:cNvSpPr/>
            <p:nvPr/>
          </p:nvSpPr>
          <p:spPr bwMode="auto">
            <a:xfrm rot="5400000">
              <a:off x="2752554" y="1399900"/>
              <a:ext cx="594477" cy="1387736"/>
            </a:xfrm>
            <a:prstGeom prst="round2SameRect">
              <a:avLst>
                <a:gd name="adj1" fmla="val 18167"/>
                <a:gd name="adj2" fmla="val 18033"/>
              </a:avLst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defRPr/>
              </a:pPr>
              <a:endParaRPr lang="ru-RU" sz="1800" b="1" strike="noStrike" spc="-1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2529839" y="1892796"/>
              <a:ext cx="1095487" cy="34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t">
              <a:no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ru-RU" sz="2400">
                  <a:latin typeface="Onest Medium"/>
                </a:rPr>
                <a:t>б</a:t>
              </a:r>
              <a:r>
                <a:rPr lang="ru-RU" sz="2400">
                  <a:latin typeface="Onest Medium"/>
                </a:rPr>
                <a:t>ыло:</a:t>
              </a:r>
              <a:endParaRPr lang="ru-RU" sz="2400">
                <a:latin typeface="Onest Medium"/>
              </a:endParaRPr>
            </a:p>
          </p:txBody>
        </p:sp>
      </p:grpSp>
      <p:grpSp>
        <p:nvGrpSpPr>
          <p:cNvPr id="14" name="Группа 13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5" name="Овал 14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6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9</a:t>
              </a:r>
              <a:endParaRPr/>
            </a:p>
          </p:txBody>
        </p:sp>
      </p:grpSp>
      <p:graphicFrame>
        <p:nvGraphicFramePr>
          <p:cNvPr id="915" name="Таблица 915"/>
          <p:cNvGraphicFramePr>
            <a:graphicFrameLocks noGrp="1"/>
          </p:cNvGraphicFramePr>
          <p:nvPr/>
        </p:nvGraphicFramePr>
        <p:xfrm>
          <a:off x="411480" y="1389888"/>
          <a:ext cx="11338560" cy="4727448"/>
        </p:xfrm>
        <a:graphic>
          <a:graphicData uri="http://schemas.openxmlformats.org/drawingml/2006/table">
            <a:tbl>
              <a:tblPr/>
              <a:tblGrid>
                <a:gridCol w="2240280"/>
                <a:gridCol w="2377440"/>
                <a:gridCol w="6720840"/>
              </a:tblGrid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Что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Как было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Подробнее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Выявление проблемы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только по жалобе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планового обхода территории нет; в сёлах округа проблема существует до месяца, прежде чем житель решится написать обращение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Кто сообщает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только заявитель о своей проблеме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все четыре канала рассчитаны на обращение жителя по своему вопросу. Для инициативной группы, фиксирующей за обход десяток проблем, это десяток обращений по 59-ФЗ со сроком 30 дней и письменным ответом на каждое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Каналов приёма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четыре разрозненных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личный приём, письменное заявление, социальные сети, платформа обратной связи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Регистрация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вручную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журнал входящих и карточка в системе документооборота, суть и адрес записываются в свободной форме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Маршрут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через первое лицо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ответственного заместителя определяет лично Глава округа — и для сложного вопроса, и для заявки о яме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Срок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30 календарных дней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один на любое обращение; о ходе работы житель не информируется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Ответ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почтой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до недели сверх нормативного срока, в зависимости от населённого пункта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Подтверждение результата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только письменный ответ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о принятых мерах житель уведомляется письмом. Но фотофиксации устранения нет ни у исполнителя, ни у руководителя, и согласен ли житель с результатом — нигде не фиксируется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Повторные обращения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не выявляются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работа по одному объекту заводится и выполняется несколько раз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Отчётность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вручную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предварительный срез данных по обращениям занимает неделю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6" name="Поле 916"/>
          <p:cNvSpPr txBox="1"/>
          <p:nvPr/>
        </p:nvSpPr>
        <p:spPr>
          <a:xfrm>
            <a:off x="411480" y="987552"/>
            <a:ext cx="11338560" cy="41148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050" b="0" dirty="0">
                <a:solidFill>
                  <a:srgbClr val="000000"/>
                </a:solidFill>
                <a:latin typeface="Onest Medium" pitchFamily="2" charset="-52"/>
              </a:rPr>
              <a:t xml:space="preserve">Время протекания процесса — от 10 до 44 календарных дней, из них до 14 дней проблема не выявлена. Очередь на разбор — 2–8 сообщений.</a:t>
            </a:r>
          </a:p>
        </p:txBody>
      </p:sp>
      <p:sp>
        <p:nvSpPr>
          <p:cNvPr id="917" name="Поле 917"/>
          <p:cNvSpPr txBox="1"/>
          <p:nvPr/>
        </p:nvSpPr>
        <p:spPr>
          <a:xfrm>
            <a:off x="411480" y="6291072"/>
            <a:ext cx="11338560" cy="36576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950" b="0" dirty="0">
                <a:solidFill>
                  <a:srgbClr val="6C5CE0"/>
                </a:solidFill>
                <a:latin typeface="Onest Medium" pitchFamily="2" charset="-52"/>
              </a:rPr>
              <a:t xml:space="preserve">Сюда же — фотографии прежнего рабочего процесса: журнал регистрации, стол приёмной, стопка письменных заявлений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2866914" y="-2543170"/>
            <a:ext cx="656216" cy="639004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ПРИЛОЖЕНИЕ. Эффект от внедрения</a:t>
            </a:r>
            <a:endParaRPr lang="ru-RU" sz="2400">
              <a:latin typeface="Onest Black"/>
            </a:endParaRPr>
          </a:p>
        </p:txBody>
      </p:sp>
      <p:grpSp>
        <p:nvGrpSpPr>
          <p:cNvPr id="14" name="Группа 13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5" name="Овал 14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6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10</a:t>
              </a:r>
              <a:endParaRPr lang="ru-RU" sz="2400">
                <a:latin typeface="Onest ExtraBold"/>
              </a:endParaRPr>
            </a:p>
          </p:txBody>
        </p:sp>
      </p:grpSp>
      <p:grpSp>
        <p:nvGrpSpPr>
          <p:cNvPr id="10" name="Группа 9"/>
          <p:cNvGrpSpPr/>
          <p:nvPr/>
        </p:nvGrpSpPr>
        <p:grpSpPr bwMode="auto">
          <a:xfrm>
            <a:off x="334963" y="1306045"/>
            <a:ext cx="1387736" cy="594477"/>
            <a:chOff x="2355925" y="1796528"/>
            <a:chExt cx="1387736" cy="594477"/>
          </a:xfrm>
        </p:grpSpPr>
        <p:sp>
          <p:nvSpPr>
            <p:cNvPr id="11" name="Прямоугольник 2"/>
            <p:cNvSpPr/>
            <p:nvPr/>
          </p:nvSpPr>
          <p:spPr bwMode="auto">
            <a:xfrm rot="5400000">
              <a:off x="2752554" y="1399900"/>
              <a:ext cx="594477" cy="1387736"/>
            </a:xfrm>
            <a:prstGeom prst="round2SameRect">
              <a:avLst>
                <a:gd name="adj1" fmla="val 18167"/>
                <a:gd name="adj2" fmla="val 18033"/>
              </a:avLst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defRPr/>
              </a:pPr>
              <a:endParaRPr lang="ru-RU" sz="1800" b="1" strike="noStrike" spc="-1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12" name="Заголовок 1"/>
            <p:cNvSpPr/>
            <p:nvPr/>
          </p:nvSpPr>
          <p:spPr bwMode="auto">
            <a:xfrm>
              <a:off x="2497566" y="1892796"/>
              <a:ext cx="1213821" cy="34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t">
              <a:no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ru-RU" sz="2400">
                  <a:latin typeface="Onest Medium"/>
                </a:rPr>
                <a:t>с</a:t>
              </a:r>
              <a:r>
                <a:rPr lang="ru-RU" sz="2400">
                  <a:latin typeface="Onest Medium"/>
                </a:rPr>
                <a:t>тало:</a:t>
              </a:r>
              <a:endParaRPr lang="ru-RU" sz="2400">
                <a:latin typeface="Onest Medium"/>
              </a:endParaRPr>
            </a:p>
          </p:txBody>
        </p:sp>
      </p:grpSp>
      <p:graphicFrame>
        <p:nvGraphicFramePr>
          <p:cNvPr id="918" name="Таблица 918"/>
          <p:cNvGraphicFramePr>
            <a:graphicFrameLocks noGrp="1"/>
          </p:cNvGraphicFramePr>
          <p:nvPr/>
        </p:nvGraphicFramePr>
        <p:xfrm>
          <a:off x="411480" y="1389888"/>
          <a:ext cx="11338560" cy="4727448"/>
        </p:xfrm>
        <a:graphic>
          <a:graphicData uri="http://schemas.openxmlformats.org/drawingml/2006/table">
            <a:tbl>
              <a:tblPr/>
              <a:tblGrid>
                <a:gridCol w="2240280"/>
                <a:gridCol w="2377440"/>
                <a:gridCol w="6720840"/>
              </a:tblGrid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Что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Как стало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Подробнее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Выявление проблемы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плановое, до жалобы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инициативные группы обходят закреплённую территорию и подают заявки сами; обращение жителя перестаёт быть единственным входом в процесс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Кто сообщает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инициативные группы и жители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инициативные группы граждан и жители, чаще других сообщавшие о проблемах, получают роль в сервисе — отдельной системы не требуется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Каналов приёма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один цифровой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мессенджер MAX: текст, фотография и геометка в одном сообщении; архитектура канально-независимая, подключение других каналов не требует переделки ядра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Регистрация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автоматическая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искусственный интеллект определяет категорию, адрес и срочность; 18 категорий в трёх направлениях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Маршрут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по цепочке ответственных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без участия первого лица; Глава округа подключается только при эскалации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Срок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по категории заявки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таймер на каждой заявке; просрочка поднимается заму направления, затем Главе округа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Ответ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в мессенджер сразу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уведомление о каждом изменении статуса, «до и после» с фотографией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Подтверждение результата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от жителя, а не о мерах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закрыть заявку без фотоматериала или отчёта нельзя; автор видит результат и ставит оценку от 1 до 5, оценка ≤ 2 возвращает заявку в работу. Подтверждает устранение житель, а не отчёт исполнителя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Повторные обращения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объединяются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дедупликация по координатам — 100 м за 14 дней — и по нормализованному адресу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Отчётность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6C5CE0"/>
                          </a:solidFill>
                          <a:latin typeface="Onest Black" pitchFamily="2" charset="-52"/>
                        </a:rPr>
                        <a:t xml:space="preserve">в реальном времени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88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сроки, нагрузка и статистика по направлениям в панели администрации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9" name="Поле 919"/>
          <p:cNvSpPr txBox="1"/>
          <p:nvPr/>
        </p:nvSpPr>
        <p:spPr>
          <a:xfrm>
            <a:off x="411480" y="987552"/>
            <a:ext cx="11338560" cy="41148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050" b="0" dirty="0">
                <a:solidFill>
                  <a:srgbClr val="000000"/>
                </a:solidFill>
                <a:latin typeface="Onest Medium" pitchFamily="2" charset="-52"/>
              </a:rPr>
              <a:t xml:space="preserve">Замеренное время протекания процесса — от 1 часа 8 минут до 7,5 суток против 10–44 дней. Очередь ожидания маршрутизации — ноль. Охват — 27 населённых пунктов.</a:t>
            </a:r>
          </a:p>
        </p:txBody>
      </p:sp>
      <p:sp>
        <p:nvSpPr>
          <p:cNvPr id="920" name="Поле 920"/>
          <p:cNvSpPr txBox="1"/>
          <p:nvPr/>
        </p:nvSpPr>
        <p:spPr>
          <a:xfrm>
            <a:off x="411480" y="6291072"/>
            <a:ext cx="11338560" cy="36576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950" b="0" dirty="0">
                <a:solidFill>
                  <a:srgbClr val="6C5CE0"/>
                </a:solidFill>
                <a:latin typeface="Onest Medium" pitchFamily="2" charset="-52"/>
              </a:rPr>
              <a:t xml:space="preserve">Экраны бота и панели администрации — на слайдах приложения после «Дополнительной информации»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3087447" y="-2763704"/>
            <a:ext cx="656216" cy="6831107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ПРИЛОЖЕНИЕ. Стандарты и нормативы</a:t>
            </a:r>
            <a:endParaRPr lang="ru-RU" sz="2400">
              <a:latin typeface="Onest Black"/>
            </a:endParaRPr>
          </a:p>
        </p:txBody>
      </p:sp>
      <p:grpSp>
        <p:nvGrpSpPr>
          <p:cNvPr id="10" name="Группа 9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4" name="Овал 13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5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11</a:t>
              </a:r>
              <a:endParaRPr lang="ru-RU" sz="2400">
                <a:latin typeface="Onest ExtraBold"/>
              </a:endParaRPr>
            </a:p>
          </p:txBody>
        </p:sp>
      </p:grpSp>
      <p:graphicFrame>
        <p:nvGraphicFramePr>
          <p:cNvPr id="921" name="Таблица 921"/>
          <p:cNvGraphicFramePr>
            <a:graphicFrameLocks noGrp="1"/>
          </p:cNvGraphicFramePr>
          <p:nvPr/>
        </p:nvGraphicFramePr>
        <p:xfrm>
          <a:off x="411480" y="1536192"/>
          <a:ext cx="11338560" cy="2743200"/>
        </p:xfrm>
        <a:graphic>
          <a:graphicData uri="http://schemas.openxmlformats.org/drawingml/2006/table">
            <a:tbl>
              <a:tblPr/>
              <a:tblGrid>
                <a:gridCol w="3520440"/>
                <a:gridCol w="617220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Документ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Что закрепляет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50" b="1" dirty="0">
                          <a:solidFill>
                            <a:srgbClr val="000000"/>
                          </a:solidFill>
                          <a:latin typeface="Onest Black" pitchFamily="2" charset="-52"/>
                        </a:rPr>
                        <a:t xml:space="preserve">Состояние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EFED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2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Распоряжение администрации округа от 24.09.2026 № 534-р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Открывает проект, закрепляет состав команды и сроки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6C5CE0"/>
                          </a:solidFill>
                          <a:latin typeface="Onest Medium" pitchFamily="2" charset="-52"/>
                        </a:rPr>
                        <a:t xml:space="preserve">подписано Главой округа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2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Регламент работы сервиса приёма сообщений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Одиннадцать разделов: роли и права, каналы приёма, классификация, дедупликация, маршрутизация и сроки, закрытие и подтверждение результата, эскалация, особые случаи, контроль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6C5CE0"/>
                          </a:solidFill>
                          <a:latin typeface="Onest Medium" pitchFamily="2" charset="-52"/>
                        </a:rPr>
                        <a:t xml:space="preserve">разработан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2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Памятки по ролям, приложение к регламенту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Шесть памяток: житель, участник инициативной группы, исполнитель, руководитель направления, глава округа, оператор панели — раздаются самой панелью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6C5CE0"/>
                          </a:solidFill>
                          <a:latin typeface="Onest Medium" pitchFamily="2" charset="-52"/>
                        </a:rPr>
                        <a:t xml:space="preserve">применяются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2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Числовые параметры процесса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595959"/>
                          </a:solidFill>
                          <a:latin typeface="Onest Regular" pitchFamily="2" charset="-52"/>
                        </a:rPr>
                        <a:t xml:space="preserve">Сроки, радиус и период объединения заявок, автоподтверждение — приложением к регламенту, меняются без его переиздания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900" b="0" dirty="0">
                          <a:solidFill>
                            <a:srgbClr val="6C5CE0"/>
                          </a:solidFill>
                          <a:latin typeface="Onest Medium" pitchFamily="2" charset="-52"/>
                        </a:rPr>
                        <a:t xml:space="preserve">закреплены</a:t>
                      </a:r>
                    </a:p>
                  </a:txBody>
                  <a:tcPr marL="45720" marR="45720" marT="27432" marB="27432" anchor="ctr">
                    <a:lnL w="6350" cap="flat">
                      <a:solidFill>
                        <a:srgbClr val="C9C2EE"/>
                      </a:solidFill>
                    </a:lnL>
                    <a:lnR w="6350" cap="flat">
                      <a:solidFill>
                        <a:srgbClr val="C9C2EE"/>
                      </a:solidFill>
                    </a:lnR>
                    <a:lnT w="6350" cap="flat">
                      <a:solidFill>
                        <a:srgbClr val="C9C2EE"/>
                      </a:solidFill>
                    </a:lnT>
                    <a:lnB w="6350" cap="flat">
                      <a:solidFill>
                        <a:srgbClr val="C9C2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2" name="Поле 922"/>
          <p:cNvSpPr txBox="1"/>
          <p:nvPr/>
        </p:nvSpPr>
        <p:spPr>
          <a:xfrm>
            <a:off x="411480" y="1051560"/>
            <a:ext cx="11338560" cy="41148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050" b="0" dirty="0">
                <a:solidFill>
                  <a:srgbClr val="000000"/>
                </a:solidFill>
                <a:latin typeface="Onest Medium" pitchFamily="2" charset="-52"/>
              </a:rPr>
              <a:t xml:space="preserve">Стандартизация результата — обязательное требование методики: улучшение должно быть закреплено документом, который применяется.</a:t>
            </a:r>
          </a:p>
        </p:txBody>
      </p:sp>
      <p:sp>
        <p:nvSpPr>
          <p:cNvPr id="923" name="Поле 923"/>
          <p:cNvSpPr txBox="1"/>
          <p:nvPr/>
        </p:nvSpPr>
        <p:spPr>
          <a:xfrm>
            <a:off x="411480" y="4498848"/>
            <a:ext cx="11338560" cy="329184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000" b="1" dirty="0">
                <a:solidFill>
                  <a:srgbClr val="6C5CE0"/>
                </a:solidFill>
                <a:latin typeface="Onest Black" pitchFamily="2" charset="-52"/>
              </a:rPr>
              <a:t xml:space="preserve">ИНСТРУМЕНТЫ БЕРЕЖЛИВОГО УПРАВЛЕНИЯ, ПРИМЕНЁННЫЕ В ПРОЕКТЕ — девять при пороге в пять. После тире — лист презентации, на котором инструмент виден</a:t>
            </a:r>
          </a:p>
        </p:txBody>
      </p:sp>
      <p:sp>
        <p:nvSpPr>
          <p:cNvPr id="924" name="Поле 924"/>
          <p:cNvSpPr txBox="1"/>
          <p:nvPr/>
        </p:nvSpPr>
        <p:spPr>
          <a:xfrm>
            <a:off x="411480" y="4864608"/>
            <a:ext cx="5559552" cy="155448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2000"/>
              </a:lnSpc>
              <a:spcAft>
                <a:spcPts val="140"/>
              </a:spcAft>
              <a:buNone/>
            </a:pPr>
            <a:r>
              <a:rPr lang="ru-RU" sz="880" b="1" dirty="0">
                <a:solidFill>
                  <a:srgbClr val="000000"/>
                </a:solidFill>
                <a:latin typeface="Onest Black" pitchFamily="2" charset="-52"/>
              </a:rPr>
              <a:t xml:space="preserve">1. Картирование процесса —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три карты: текущее, целевое, достигнутое — листы 3, 5, 9</a:t>
            </a:r>
          </a:p>
          <a:p>
            <a:pPr algn="l" marL="0" indent="0">
              <a:lnSpc>
                <a:spcPct val="102000"/>
              </a:lnSpc>
              <a:spcAft>
                <a:spcPts val="140"/>
              </a:spcAft>
              <a:buNone/>
            </a:pPr>
            <a:r>
              <a:rPr lang="ru-RU" sz="880" b="1" dirty="0">
                <a:solidFill>
                  <a:srgbClr val="000000"/>
                </a:solidFill>
                <a:latin typeface="Onest Black" pitchFamily="2" charset="-52"/>
              </a:rPr>
              <a:t xml:space="preserve">2. «Пять почему» —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цепочка до коренной причины — лист 4</a:t>
            </a:r>
          </a:p>
          <a:p>
            <a:pPr algn="l" marL="0" indent="0">
              <a:lnSpc>
                <a:spcPct val="102000"/>
              </a:lnSpc>
              <a:spcAft>
                <a:spcPts val="140"/>
              </a:spcAft>
              <a:buNone/>
            </a:pPr>
            <a:r>
              <a:rPr lang="ru-RU" sz="880" b="1" dirty="0">
                <a:solidFill>
                  <a:srgbClr val="000000"/>
                </a:solidFill>
                <a:latin typeface="Onest Black" pitchFamily="2" charset="-52"/>
              </a:rPr>
              <a:t xml:space="preserve">3. Диаграмма Исикавы —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13 факторов по пяти категориям — лист 4</a:t>
            </a:r>
          </a:p>
          <a:p>
            <a:pPr algn="l" marL="0" indent="0">
              <a:lnSpc>
                <a:spcPct val="102000"/>
              </a:lnSpc>
              <a:spcAft>
                <a:spcPts val="140"/>
              </a:spcAft>
              <a:buNone/>
            </a:pPr>
            <a:r>
              <a:rPr lang="ru-RU" sz="880" b="1" dirty="0">
                <a:solidFill>
                  <a:srgbClr val="000000"/>
                </a:solidFill>
                <a:latin typeface="Onest Black" pitchFamily="2" charset="-52"/>
              </a:rPr>
              <a:t xml:space="preserve">4. Восемь видов потерь —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реестр с оценкой влияния на время процесса — лист 4</a:t>
            </a:r>
          </a:p>
          <a:p>
            <a:pPr algn="l" marL="0" indent="0">
              <a:lnSpc>
                <a:spcPct val="102000"/>
              </a:lnSpc>
              <a:spcAft>
                <a:spcPts val="140"/>
              </a:spcAft>
              <a:buNone/>
            </a:pPr>
            <a:r>
              <a:rPr lang="ru-RU" sz="880" b="1" dirty="0">
                <a:solidFill>
                  <a:srgbClr val="000000"/>
                </a:solidFill>
                <a:latin typeface="Onest Black" pitchFamily="2" charset="-52"/>
              </a:rPr>
              <a:t xml:space="preserve">5. Голос клиента —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оценка жителя 1–5, оценка ≤ 2 возвращает заявку — лист 16</a:t>
            </a:r>
          </a:p>
        </p:txBody>
      </p:sp>
      <p:sp>
        <p:nvSpPr>
          <p:cNvPr id="925" name="Поле 925"/>
          <p:cNvSpPr txBox="1"/>
          <p:nvPr/>
        </p:nvSpPr>
        <p:spPr>
          <a:xfrm>
            <a:off x="6190488" y="4864608"/>
            <a:ext cx="5559552" cy="155448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2000"/>
              </a:lnSpc>
              <a:spcAft>
                <a:spcPts val="140"/>
              </a:spcAft>
              <a:buNone/>
            </a:pPr>
            <a:r>
              <a:rPr lang="ru-RU" sz="880" b="1" dirty="0">
                <a:solidFill>
                  <a:srgbClr val="000000"/>
                </a:solidFill>
                <a:latin typeface="Onest Black" pitchFamily="2" charset="-52"/>
              </a:rPr>
              <a:t xml:space="preserve">6. Визуализация —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статусы, сроки, карта заявок, плотность проблем — лист 17</a:t>
            </a:r>
          </a:p>
          <a:p>
            <a:pPr algn="l" marL="0" indent="0">
              <a:lnSpc>
                <a:spcPct val="102000"/>
              </a:lnSpc>
              <a:spcAft>
                <a:spcPts val="140"/>
              </a:spcAft>
              <a:buNone/>
            </a:pPr>
            <a:r>
              <a:rPr lang="ru-RU" sz="880" b="1" dirty="0">
                <a:solidFill>
                  <a:srgbClr val="000000"/>
                </a:solidFill>
                <a:latin typeface="Onest Black" pitchFamily="2" charset="-52"/>
              </a:rPr>
              <a:t xml:space="preserve">7. Канбан —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доска заявок по статусам — лист 18</a:t>
            </a:r>
          </a:p>
          <a:p>
            <a:pPr algn="l" marL="0" indent="0">
              <a:lnSpc>
                <a:spcPct val="102000"/>
              </a:lnSpc>
              <a:spcAft>
                <a:spcPts val="140"/>
              </a:spcAft>
              <a:buNone/>
            </a:pPr>
            <a:r>
              <a:rPr lang="ru-RU" sz="880" b="1" dirty="0">
                <a:solidFill>
                  <a:srgbClr val="000000"/>
                </a:solidFill>
                <a:latin typeface="Onest Black" pitchFamily="2" charset="-52"/>
              </a:rPr>
              <a:t xml:space="preserve">8. Стандартизация —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регламент сервиса и памятки по ролям — таблица на этом листе</a:t>
            </a:r>
          </a:p>
          <a:p>
            <a:pPr algn="l" marL="0" indent="0">
              <a:lnSpc>
                <a:spcPct val="102000"/>
              </a:lnSpc>
              <a:spcAft>
                <a:spcPts val="140"/>
              </a:spcAft>
              <a:buNone/>
            </a:pPr>
            <a:r>
              <a:rPr lang="ru-RU" sz="880" b="1" dirty="0">
                <a:solidFill>
                  <a:srgbClr val="000000"/>
                </a:solidFill>
                <a:latin typeface="Onest Black" pitchFamily="2" charset="-52"/>
              </a:rPr>
              <a:t xml:space="preserve">9. Защита от ошибок —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закрыть заявку без подтверждения результата нельзя; сквозная дедупликация — листы 15 и 16</a:t>
            </a:r>
          </a:p>
        </p:txBody>
      </p:sp>
      <p:sp>
        <p:nvSpPr>
          <p:cNvPr id="926" name="Поле 926"/>
          <p:cNvSpPr txBox="1"/>
          <p:nvPr/>
        </p:nvSpPr>
        <p:spPr>
          <a:xfrm>
            <a:off x="411480" y="6419088"/>
            <a:ext cx="11338560" cy="36576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900" b="0" dirty="0">
                <a:solidFill>
                  <a:srgbClr val="6C5CE0"/>
                </a:solidFill>
                <a:latin typeface="Onest Medium" pitchFamily="2" charset="-52"/>
              </a:rPr>
              <a:t xml:space="preserve">Распоряжение № 534-р приложено сканом. Регламент и памятки вводятся в действие листом согласования и листом ознакомления исполнителей — отдельного приказа об утверждении не издаётся.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3335379" y="-3011636"/>
            <a:ext cx="977933" cy="7648689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ПРИЛОЖЕНИЕ. Дополнительная информация 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о проекте</a:t>
            </a:r>
            <a:endParaRPr lang="ru-RU" sz="2400">
              <a:latin typeface="Onest Black"/>
            </a:endParaRPr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7" name="Овал 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12</a:t>
              </a:r>
              <a:endParaRPr lang="ru-RU" sz="2400">
                <a:latin typeface="Onest ExtraBold"/>
              </a:endParaRPr>
            </a:p>
          </p:txBody>
        </p:sp>
      </p:grpSp>
      <p:graphicFrame>
        <p:nvGraphicFramePr>
          <p:cNvPr id="9" name="Таблица 8"/>
          <p:cNvGraphicFramePr>
            <a:graphicFrameLocks xmlns:a="http://schemas.openxmlformats.org/drawingml/2006/main" noGrp="1"/>
          </p:cNvGraphicFramePr>
          <p:nvPr/>
        </p:nvGraphicFramePr>
        <p:xfrm>
          <a:off x="652190" y="2005502"/>
          <a:ext cx="10693529" cy="3960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743648"/>
                <a:gridCol w="3566403"/>
                <a:gridCol w="6383478"/>
              </a:tblGrid>
              <a:tr h="530352"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200" b="0">
                        <a:solidFill>
                          <a:schemeClr val="tx1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Onest ExtraBold"/>
                          <a:ea typeface="+mn-ea"/>
                          <a:cs typeface="+mn-cs"/>
                        </a:rPr>
                        <a:t>Наличие публикации о реализации проекта (соц.сети оив, местные, федеральные СМИ) - ссылка</a:t>
                      </a:r>
                      <a:endParaRPr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0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Официальный сайт администрации Благовещенского муниципального округа — https://blgraion.amurobl.ru/ : публикации о работе сервиса приёма сообщений «Точка перемен», о порядке подачи заявки жителем и о результатах устранения проблем на территории округа</a:t>
                      </a: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30352"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200" b="0">
                        <a:solidFill>
                          <a:schemeClr val="tx1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Onest ExtraBold"/>
                          <a:ea typeface="+mn-ea"/>
                          <a:cs typeface="+mn-cs"/>
                        </a:rPr>
                        <a:t>Масштабность проекта (в процессе задействованы (структурные подразделения ОИВ, иные ОИВ и подведомственные учреждения)</a:t>
                      </a:r>
                      <a:endParaRPr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0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Администрация Благовещенского муниципального округа: инициативные группы граждан, выявляющие проблемы на территории; подразделение приёма сообщений, три направления с головными заместителями, подразделения-исполнители, Глава округа. Охват — 27 населённых пунктов</a:t>
                      </a: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30352"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200" b="0">
                        <a:solidFill>
                          <a:schemeClr val="tx1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Onest ExtraBold"/>
                          <a:ea typeface="+mn-ea"/>
                          <a:cs typeface="+mn-cs"/>
                        </a:rPr>
                        <a:t>Источники проблематики при выборе темы проекта (обращения граждан, соц. значимость, межведомственное взаимодействие и т.д.)</a:t>
                      </a:r>
                      <a:endParaRPr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0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Инцидент-менеджмент — массовые обращения граждан о состоянии территории округа</a:t>
                      </a: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30352">
                <a:tc>
                  <a:txBody>
                    <a:bodyPr/>
                    <a:p>
                      <a:pPr>
                        <a:defRPr/>
                      </a:pPr>
                      <a:endParaRPr lang="ru-RU" sz="1200" b="0">
                        <a:solidFill>
                          <a:schemeClr val="tx1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Onest ExtraBold"/>
                          <a:ea typeface="+mn-ea"/>
                          <a:cs typeface="+mn-cs"/>
                        </a:rPr>
                        <a:t>Стандартизация результатов проекта (стандарт, регламент, алгоритм и т.д.) </a:t>
                      </a:r>
                      <a:endParaRPr/>
                    </a:p>
                    <a:p>
                      <a:pPr>
                        <a:defRPr/>
                      </a:pPr>
                      <a:endParaRPr lang="ru-RU" sz="1100">
                        <a:solidFill>
                          <a:schemeClr val="tx1"/>
                        </a:solidFill>
                        <a:latin typeface="Onest ExtraBold"/>
                        <a:ea typeface="+mn-ea"/>
                        <a:cs typeface="+mn-cs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0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Регламент работы сервиса приёма сообщений — одиннадцать разделов — и памятки по ролям для шести ролей процесса; памятки раздаёт сама панель администрации</a:t>
                      </a: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30352"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400" b="0">
                        <a:solidFill>
                          <a:schemeClr val="tx1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5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Onest ExtraBold"/>
                          <a:ea typeface="+mn-ea"/>
                          <a:cs typeface="+mn-cs"/>
                        </a:rPr>
                        <a:t>Реализация проекта с помощью цифровых решений </a:t>
                      </a:r>
                      <a:endParaRPr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000" b="0" dirty="0">
                          <a:solidFill>
                            <a:srgbClr val="000000"/>
                          </a:solidFill>
                          <a:latin typeface="Onest Medium" pitchFamily="2" charset="-52"/>
                        </a:rPr>
                        <a:t xml:space="preserve">Собственная разработка нового цифрового решения: сервис приёма сообщений «Точка перемен» в мессенджере MAX, ИИ-классификация обращений, автоматическая маршрутизация, контроль сроков, панель администрации</a:t>
                      </a: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24055" y="2235512"/>
            <a:ext cx="360401" cy="36040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24055" y="3060849"/>
            <a:ext cx="395960" cy="39596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95801" y="3765144"/>
            <a:ext cx="440717" cy="44071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795802" y="4612028"/>
            <a:ext cx="403378" cy="403378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817291" y="5389433"/>
            <a:ext cx="409086" cy="409086"/>
          </a:xfrm>
          <a:prstGeom prst="rect">
            <a:avLst/>
          </a:prstGeom>
        </p:spPr>
      </p:pic>
      <p:sp>
        <p:nvSpPr>
          <p:cNvPr id="927" name="Поле 927"/>
          <p:cNvSpPr txBox="1"/>
          <p:nvPr/>
        </p:nvSpPr>
        <p:spPr>
          <a:xfrm>
            <a:off x="384048" y="5321808"/>
            <a:ext cx="11420856" cy="1325880"/>
          </a:xfrm>
          <a:prstGeom prst="roundRect">
            <a:avLst>
              <a:gd name="adj" fmla="val 4000"/>
            </a:avLst>
          </a:prstGeom>
          <a:solidFill>
            <a:srgbClr val="F7F6FE"/>
          </a:solidFill>
          <a:ln w="12700">
            <a:solidFill>
              <a:srgbClr val="C9C2EE"/>
            </a:solidFill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4000"/>
              </a:lnSpc>
              <a:spcAft>
                <a:spcPts val="220"/>
              </a:spcAft>
              <a:buNone/>
            </a:pPr>
            <a:r>
              <a:rPr lang="ru-RU" sz="880" b="1" dirty="0">
                <a:solidFill>
                  <a:srgbClr val="6C5CE0"/>
                </a:solidFill>
                <a:latin typeface="Onest Black" pitchFamily="2" charset="-52"/>
              </a:rPr>
              <a:t xml:space="preserve">ОБУЧЕНИЕ КОМАНДЫ ПРОЕКТА. 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Команда «Лидеры перемен», 5 человек — курс «Как внедрить инструменты бережливого производства в свою работу» Мастерской управления «Сенеж», платформа «Россия — страна возможностей». </a:t>
            </a:r>
            <a:r>
              <a:rPr lang="ru-RU" sz="880" b="1" dirty="0">
                <a:solidFill>
                  <a:srgbClr val="000000"/>
                </a:solidFill>
                <a:latin typeface="Onest Black" pitchFamily="2" charset="-52"/>
              </a:rPr>
              <a:t xml:space="preserve">Обучение прошли все пятеро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; копии сертификатов — на листе 20 настоящей презентации.</a:t>
            </a:r>
          </a:p>
          <a:p>
            <a:pPr algn="l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80" b="1" dirty="0">
                <a:solidFill>
                  <a:srgbClr val="6C5CE0"/>
                </a:solidFill>
                <a:latin typeface="Onest Black" pitchFamily="2" charset="-52"/>
              </a:rPr>
              <a:t xml:space="preserve">АКТУАЛЬНОСТЬ ПРОЕКТА.  </a:t>
            </a:r>
            <a:r>
              <a:rPr lang="ru-RU" sz="880" b="0" dirty="0">
                <a:solidFill>
                  <a:srgbClr val="595959"/>
                </a:solidFill>
                <a:latin typeface="Onest Medium" pitchFamily="2" charset="-52"/>
              </a:rPr>
              <a:t xml:space="preserve">Содержание территории — то, что жители видят каждый день; охват 27 населённых пунктов округа, большинство — сёла, где канала обращения фактически не было. Проект отвечает клиентоцентричности федерального проекта «Государство для людей» и практике платформы обратной связи. Процесс исполняется во всех муниципальных образованиях области.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2666998" y="-2666999"/>
            <a:ext cx="6858002" cy="12191999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2">
              <a:alphaModFix amt="56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endParaRPr lang="ru-RU" sz="2400">
              <a:latin typeface="Onest Black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1753652" y="3008978"/>
            <a:ext cx="8684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400">
                <a:latin typeface="Onest Black"/>
              </a:rPr>
              <a:t>СПАСИБО ЗА ВНИМАНИЕ!</a:t>
            </a:r>
            <a:endParaRPr lang="ru-RU" sz="2400">
              <a:latin typeface="Onest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9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 xml:space="preserve">ПРИЛОЖЕНИЕ. Глазами жителя</a:t>
            </a:r>
            <a:endParaRPr lang="ru-RU" sz="2400">
              <a:latin typeface="Onest Black"/>
            </a:endParaRPr>
          </a:p>
        </p:txBody>
      </p:sp>
      <p:grpSp>
        <p:nvGrpSpPr>
          <p:cNvPr id="16" name="Группа 1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7" name="Овал 1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>
                  <a:latin typeface="Onest ExtraBold"/>
                </a:rPr>
                <a:t>13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928" name="Рисунок 9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2317" y="1207008"/>
            <a:ext cx="1860842" cy="4041648"/>
          </a:xfrm>
          <a:prstGeom prst="rect">
            <a:avLst/>
          </a:prstGeom>
        </p:spPr>
      </p:pic>
      <p:sp>
        <p:nvSpPr>
          <p:cNvPr id="929" name="Поле 929"/>
          <p:cNvSpPr txBox="1"/>
          <p:nvPr/>
        </p:nvSpPr>
        <p:spPr>
          <a:xfrm>
            <a:off x="2763717" y="5321808"/>
            <a:ext cx="2318042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Меню сервиса: бот объясняет, что и как приложить</a:t>
            </a:r>
          </a:p>
        </p:txBody>
      </p:sp>
      <p:pic>
        <p:nvPicPr>
          <p:cNvPr id="930" name="Рисунок 9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4055" y="1207008"/>
            <a:ext cx="1860842" cy="4041648"/>
          </a:xfrm>
          <a:prstGeom prst="rect">
            <a:avLst/>
          </a:prstGeom>
        </p:spPr>
      </p:pic>
      <p:sp>
        <p:nvSpPr>
          <p:cNvPr id="931" name="Поле 931"/>
          <p:cNvSpPr txBox="1"/>
          <p:nvPr/>
        </p:nvSpPr>
        <p:spPr>
          <a:xfrm>
            <a:off x="4935455" y="5321808"/>
            <a:ext cx="2318042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Черновик перед отправкой: текст, геометка, четыре фотографии</a:t>
            </a:r>
          </a:p>
        </p:txBody>
      </p:sp>
      <p:pic>
        <p:nvPicPr>
          <p:cNvPr id="932" name="Рисунок 9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5793" y="1207008"/>
            <a:ext cx="1860842" cy="4041648"/>
          </a:xfrm>
          <a:prstGeom prst="rect">
            <a:avLst/>
          </a:prstGeom>
        </p:spPr>
      </p:pic>
      <p:sp>
        <p:nvSpPr>
          <p:cNvPr id="933" name="Поле 933"/>
          <p:cNvSpPr txBox="1"/>
          <p:nvPr/>
        </p:nvSpPr>
        <p:spPr>
          <a:xfrm>
            <a:off x="7107193" y="5321808"/>
            <a:ext cx="2318042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Заявка принята: номер, категория и срочность определены автоматически</a:t>
            </a:r>
          </a:p>
        </p:txBody>
      </p:sp>
      <p:sp>
        <p:nvSpPr>
          <p:cNvPr id="934" name="Поле 934"/>
          <p:cNvSpPr txBox="1"/>
          <p:nvPr/>
        </p:nvSpPr>
        <p:spPr>
          <a:xfrm>
            <a:off x="411480" y="6053328"/>
            <a:ext cx="11338560" cy="45720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950" b="0" dirty="0">
                <a:solidFill>
                  <a:srgbClr val="6C5CE0"/>
                </a:solidFill>
                <a:latin typeface="Onest Medium" pitchFamily="2" charset="-52"/>
              </a:rPr>
              <a:t xml:space="preserve">Заявка подаётся в мессенджере за три шага. Категорию, адрес и срочность сервис определяет сам — житель просто описывает проблему своими словами и прикладывает фотографии.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9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 xml:space="preserve">ПРИЛОЖЕНИЕ. У исполнителя</a:t>
            </a:r>
            <a:endParaRPr lang="ru-RU" sz="2400">
              <a:latin typeface="Onest Black"/>
            </a:endParaRPr>
          </a:p>
        </p:txBody>
      </p:sp>
      <p:grpSp>
        <p:nvGrpSpPr>
          <p:cNvPr id="16" name="Группа 1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7" name="Овал 1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>
                  <a:latin typeface="Onest ExtraBold"/>
                </a:rPr>
                <a:t>14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935" name="Рисунок 9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186" y="1207008"/>
            <a:ext cx="1860842" cy="4041648"/>
          </a:xfrm>
          <a:prstGeom prst="rect">
            <a:avLst/>
          </a:prstGeom>
        </p:spPr>
      </p:pic>
      <p:sp>
        <p:nvSpPr>
          <p:cNvPr id="936" name="Поле 936"/>
          <p:cNvSpPr txBox="1"/>
          <p:nvPr/>
        </p:nvSpPr>
        <p:spPr>
          <a:xfrm>
            <a:off x="3849586" y="5321808"/>
            <a:ext cx="2318042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Карточка заявки: категория, срочность, адрес и кнопки ответа</a:t>
            </a:r>
          </a:p>
        </p:txBody>
      </p:sp>
      <p:pic>
        <p:nvPicPr>
          <p:cNvPr id="937" name="Рисунок 9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924" y="1207008"/>
            <a:ext cx="1860842" cy="4041648"/>
          </a:xfrm>
          <a:prstGeom prst="rect">
            <a:avLst/>
          </a:prstGeom>
        </p:spPr>
      </p:pic>
      <p:sp>
        <p:nvSpPr>
          <p:cNvPr id="938" name="Поле 938"/>
          <p:cNvSpPr txBox="1"/>
          <p:nvPr/>
        </p:nvSpPr>
        <p:spPr>
          <a:xfrm>
            <a:off x="6021324" y="5321808"/>
            <a:ext cx="2318042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Фотографии заявителя и уведомление о назначении</a:t>
            </a:r>
          </a:p>
        </p:txBody>
      </p:sp>
      <p:sp>
        <p:nvSpPr>
          <p:cNvPr id="939" name="Поле 939"/>
          <p:cNvSpPr txBox="1"/>
          <p:nvPr/>
        </p:nvSpPr>
        <p:spPr>
          <a:xfrm>
            <a:off x="411480" y="6053328"/>
            <a:ext cx="11338560" cy="45720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950" b="0" dirty="0">
                <a:solidFill>
                  <a:srgbClr val="6C5CE0"/>
                </a:solidFill>
                <a:latin typeface="Onest Medium" pitchFamily="2" charset="-52"/>
              </a:rPr>
              <a:t xml:space="preserve">Маршрут назначается по цепочке ответственных, без резолюции первого лица. Исполнитель получает заявку с готовой категорией, адресом, фотографиями и сроком — и отвечает одним нажатием.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9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 xml:space="preserve">ПРИЛОЖЕНИЕ. Результат жителю</a:t>
            </a:r>
            <a:endParaRPr lang="ru-RU" sz="2400">
              <a:latin typeface="Onest Black"/>
            </a:endParaRPr>
          </a:p>
        </p:txBody>
      </p:sp>
      <p:grpSp>
        <p:nvGrpSpPr>
          <p:cNvPr id="16" name="Группа 1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7" name="Овал 1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>
                  <a:latin typeface="Onest ExtraBold"/>
                </a:rPr>
                <a:t>15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940" name="Рисунок 9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186" y="1207008"/>
            <a:ext cx="1860842" cy="4041648"/>
          </a:xfrm>
          <a:prstGeom prst="rect">
            <a:avLst/>
          </a:prstGeom>
        </p:spPr>
      </p:pic>
      <p:sp>
        <p:nvSpPr>
          <p:cNvPr id="941" name="Поле 941"/>
          <p:cNvSpPr txBox="1"/>
          <p:nvPr/>
        </p:nvSpPr>
        <p:spPr>
          <a:xfrm>
            <a:off x="3849586" y="5321808"/>
            <a:ext cx="2318042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Фотография результата и кнопки «Подтверждаю» / «Не решено»</a:t>
            </a:r>
          </a:p>
        </p:txBody>
      </p:sp>
      <p:pic>
        <p:nvPicPr>
          <p:cNvPr id="942" name="Рисунок 9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924" y="1207008"/>
            <a:ext cx="1860842" cy="4041648"/>
          </a:xfrm>
          <a:prstGeom prst="rect">
            <a:avLst/>
          </a:prstGeom>
        </p:spPr>
      </p:pic>
      <p:sp>
        <p:nvSpPr>
          <p:cNvPr id="943" name="Поле 943"/>
          <p:cNvSpPr txBox="1"/>
          <p:nvPr/>
        </p:nvSpPr>
        <p:spPr>
          <a:xfrm>
            <a:off x="6021324" y="5321808"/>
            <a:ext cx="2318042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Заявка закрыта, оценка по шкале 1–5 учтена</a:t>
            </a:r>
          </a:p>
        </p:txBody>
      </p:sp>
      <p:sp>
        <p:nvSpPr>
          <p:cNvPr id="944" name="Поле 944"/>
          <p:cNvSpPr txBox="1"/>
          <p:nvPr/>
        </p:nvSpPr>
        <p:spPr>
          <a:xfrm>
            <a:off x="411480" y="6053328"/>
            <a:ext cx="11338560" cy="45720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950" b="0" dirty="0">
                <a:solidFill>
                  <a:srgbClr val="6C5CE0"/>
                </a:solidFill>
                <a:latin typeface="Onest Medium" pitchFamily="2" charset="-52"/>
              </a:rPr>
              <a:t xml:space="preserve">Закрыть заявку без фотографии результата нельзя. Житель видит, что сделано, подтверждает решение и ставит оценку — её видит руководство округа. Оценка два и ниже автоматически возвращает заявку в работу.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9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 xml:space="preserve">ПРИЛОЖЕНИЕ. Панель округа</a:t>
            </a:r>
            <a:endParaRPr lang="ru-RU" sz="2400">
              <a:latin typeface="Onest Black"/>
            </a:endParaRPr>
          </a:p>
        </p:txBody>
      </p:sp>
      <p:grpSp>
        <p:nvGrpSpPr>
          <p:cNvPr id="16" name="Группа 1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7" name="Овал 1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>
                  <a:latin typeface="Onest ExtraBold"/>
                </a:rPr>
                <a:t>16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945" name="Рисунок 9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366153"/>
            <a:ext cx="3581400" cy="1723357"/>
          </a:xfrm>
          <a:prstGeom prst="rect">
            <a:avLst/>
          </a:prstGeom>
        </p:spPr>
      </p:pic>
      <p:sp>
        <p:nvSpPr>
          <p:cNvPr id="946" name="Поле 946"/>
          <p:cNvSpPr txBox="1"/>
          <p:nvPr/>
        </p:nvSpPr>
        <p:spPr>
          <a:xfrm>
            <a:off x="182880" y="4559350"/>
            <a:ext cx="4038600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Карта заявок по округу: статус каждой видно цветом</a:t>
            </a:r>
          </a:p>
        </p:txBody>
      </p:sp>
      <p:pic>
        <p:nvPicPr>
          <p:cNvPr id="947" name="Рисунок 9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3776" y="2351796"/>
            <a:ext cx="3581400" cy="1752073"/>
          </a:xfrm>
          <a:prstGeom prst="rect">
            <a:avLst/>
          </a:prstGeom>
        </p:spPr>
      </p:pic>
      <p:sp>
        <p:nvSpPr>
          <p:cNvPr id="948" name="Поле 948"/>
          <p:cNvSpPr txBox="1"/>
          <p:nvPr/>
        </p:nvSpPr>
        <p:spPr>
          <a:xfrm>
            <a:off x="4075176" y="4559350"/>
            <a:ext cx="4038600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Статистика и плотность проблем: где обращаются чаще</a:t>
            </a:r>
          </a:p>
        </p:txBody>
      </p:sp>
      <p:pic>
        <p:nvPicPr>
          <p:cNvPr id="949" name="Рисунок 9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6072" y="1969466"/>
            <a:ext cx="3581400" cy="2516733"/>
          </a:xfrm>
          <a:prstGeom prst="rect">
            <a:avLst/>
          </a:prstGeom>
        </p:spPr>
      </p:pic>
      <p:sp>
        <p:nvSpPr>
          <p:cNvPr id="950" name="Поле 950"/>
          <p:cNvSpPr txBox="1"/>
          <p:nvPr/>
        </p:nvSpPr>
        <p:spPr>
          <a:xfrm>
            <a:off x="7967472" y="4559350"/>
            <a:ext cx="4038600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Карточка заявки: фото «до» и «после», оценка жителя, журнал событий</a:t>
            </a:r>
          </a:p>
        </p:txBody>
      </p:sp>
      <p:sp>
        <p:nvSpPr>
          <p:cNvPr id="951" name="Поле 951"/>
          <p:cNvSpPr txBox="1"/>
          <p:nvPr/>
        </p:nvSpPr>
        <p:spPr>
          <a:xfrm>
            <a:off x="411480" y="6053328"/>
            <a:ext cx="11338560" cy="45720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950" b="0" dirty="0">
                <a:solidFill>
                  <a:srgbClr val="6C5CE0"/>
                </a:solidFill>
                <a:latin typeface="Onest Medium" pitchFamily="2" charset="-52"/>
              </a:rPr>
              <a:t xml:space="preserve">Руководитель видит процесс целиком и в реальном времени: где проблемы, кто их ведёт, что просрочено. Прежде сводка собиралась вручную и занимала до недели.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9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 xml:space="preserve">ПРИЛОЖЕНИЕ. Доска заявок</a:t>
            </a:r>
            <a:endParaRPr lang="ru-RU" sz="2400">
              <a:latin typeface="Onest Black"/>
            </a:endParaRPr>
          </a:p>
        </p:txBody>
      </p:sp>
      <p:grpSp>
        <p:nvGrpSpPr>
          <p:cNvPr id="16" name="Группа 1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7" name="Овал 1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>
                  <a:latin typeface="Onest ExtraBold"/>
                </a:rPr>
                <a:t>17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952" name="Рисунок 9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5630" y="1207008"/>
            <a:ext cx="6757693" cy="4453128"/>
          </a:xfrm>
          <a:prstGeom prst="rect">
            <a:avLst/>
          </a:prstGeom>
        </p:spPr>
      </p:pic>
      <p:sp>
        <p:nvSpPr>
          <p:cNvPr id="953" name="Поле 953"/>
          <p:cNvSpPr txBox="1"/>
          <p:nvPr/>
        </p:nvSpPr>
        <p:spPr>
          <a:xfrm>
            <a:off x="2487030" y="5733288"/>
            <a:ext cx="7214893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Пять колонок по статусам: новая, принята, в работе, выполнена, подтверждена. Красная отметка SLA — заявка вышла за срок</a:t>
            </a:r>
          </a:p>
        </p:txBody>
      </p:sp>
      <p:sp>
        <p:nvSpPr>
          <p:cNvPr id="954" name="Поле 954"/>
          <p:cNvSpPr txBox="1"/>
          <p:nvPr/>
        </p:nvSpPr>
        <p:spPr>
          <a:xfrm>
            <a:off x="411480" y="6053328"/>
            <a:ext cx="11338560" cy="45720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950" b="0" dirty="0">
                <a:solidFill>
                  <a:srgbClr val="6C5CE0"/>
                </a:solidFill>
                <a:latin typeface="Onest Medium" pitchFamily="2" charset="-52"/>
              </a:rPr>
              <a:t xml:space="preserve">Канбан — инструмент бережливого управления: работа видна колонками, и сразу понятно, где она скапливается. Пустая колонка «Выполнена» означает, что выполненные заявки не ждут подтверждения — житель подтверждает их в тот же день.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9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 xml:space="preserve">ПРИЛОЖЕНИЕ. Было и стало</a:t>
            </a:r>
            <a:endParaRPr lang="ru-RU" sz="2400">
              <a:latin typeface="Onest Black"/>
            </a:endParaRPr>
          </a:p>
        </p:txBody>
      </p:sp>
      <p:grpSp>
        <p:nvGrpSpPr>
          <p:cNvPr id="16" name="Группа 1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7" name="Овал 1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>
                  <a:latin typeface="Onest ExtraBold"/>
                </a:rPr>
                <a:t>18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955" name="Рисунок 9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055" y="1207008"/>
            <a:ext cx="1860842" cy="4041648"/>
          </a:xfrm>
          <a:prstGeom prst="rect">
            <a:avLst/>
          </a:prstGeom>
        </p:spPr>
      </p:pic>
      <p:sp>
        <p:nvSpPr>
          <p:cNvPr id="956" name="Поле 956"/>
          <p:cNvSpPr txBox="1"/>
          <p:nvPr/>
        </p:nvSpPr>
        <p:spPr>
          <a:xfrm>
            <a:off x="4935455" y="5321808"/>
            <a:ext cx="2318042" cy="438912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ctr" marL="0" indent="0">
              <a:lnSpc>
                <a:spcPct val="104000"/>
              </a:lnSpc>
              <a:spcAft>
                <a:spcPts val="0"/>
              </a:spcAft>
              <a:buNone/>
            </a:pPr>
            <a:r>
              <a:rPr lang="ru-RU" sz="800" b="0" dirty="0">
                <a:solidFill>
                  <a:srgbClr val="595959"/>
                </a:solidFill>
                <a:latin typeface="Onest Medium" pitchFamily="2" charset="-52"/>
              </a:rPr>
              <a:t xml:space="preserve">Стало: заявка пришла исполнителю с готовой категорией, адресом и сроком</a:t>
            </a:r>
          </a:p>
        </p:txBody>
      </p:sp>
      <p:sp>
        <p:nvSpPr>
          <p:cNvPr id="957" name="Поле 957"/>
          <p:cNvSpPr txBox="1"/>
          <p:nvPr/>
        </p:nvSpPr>
        <p:spPr>
          <a:xfrm>
            <a:off x="411480" y="6053328"/>
            <a:ext cx="11338560" cy="45720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950" b="0" dirty="0">
                <a:solidFill>
                  <a:srgbClr val="6C5CE0"/>
                </a:solidFill>
                <a:latin typeface="Onest Medium" pitchFamily="2" charset="-52"/>
              </a:rPr>
              <a:t xml:space="preserve">Одна и та же операция — приём сообщения и назначение исполнителя — до проекта и после. Слева ручная работа, справа она же без участия сотрудника.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9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 xml:space="preserve">ПРИЛОЖЕНИЕ. Обучение команды</a:t>
            </a:r>
            <a:endParaRPr lang="ru-RU" sz="2400">
              <a:latin typeface="Onest Black"/>
            </a:endParaRPr>
          </a:p>
        </p:txBody>
      </p:sp>
      <p:grpSp>
        <p:nvGrpSpPr>
          <p:cNvPr id="16" name="Группа 1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7" name="Овал 1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>
                  <a:latin typeface="Onest ExtraBold"/>
                </a:rPr>
                <a:t>19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958" name="Рисунок 9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9323" y="1143000"/>
            <a:ext cx="3190533" cy="2253996"/>
          </a:xfrm>
          <a:prstGeom prst="rect">
            <a:avLst/>
          </a:prstGeom>
        </p:spPr>
      </p:pic>
      <p:pic>
        <p:nvPicPr>
          <p:cNvPr id="959" name="Рисунок 95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097" y="1143000"/>
            <a:ext cx="3190533" cy="2253996"/>
          </a:xfrm>
          <a:prstGeom prst="rect">
            <a:avLst/>
          </a:prstGeom>
        </p:spPr>
      </p:pic>
      <p:pic>
        <p:nvPicPr>
          <p:cNvPr id="960" name="Рисунок 9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323" y="3598164"/>
            <a:ext cx="3190533" cy="2253996"/>
          </a:xfrm>
          <a:prstGeom prst="rect">
            <a:avLst/>
          </a:prstGeom>
        </p:spPr>
      </p:pic>
      <p:pic>
        <p:nvPicPr>
          <p:cNvPr id="961" name="Рисунок 96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9097" y="3598164"/>
            <a:ext cx="3190533" cy="2253996"/>
          </a:xfrm>
          <a:prstGeom prst="rect">
            <a:avLst/>
          </a:prstGeom>
        </p:spPr>
      </p:pic>
      <p:sp>
        <p:nvSpPr>
          <p:cNvPr id="962" name="Поле 962"/>
          <p:cNvSpPr txBox="1"/>
          <p:nvPr/>
        </p:nvSpPr>
        <p:spPr>
          <a:xfrm>
            <a:off x="411480" y="5989320"/>
            <a:ext cx="11338560" cy="548640"/>
          </a:xfrm>
          <a:prstGeom prst="rect">
            <a:avLst/>
          </a:prstGeom>
          <a:noFill/>
          <a:ln w="0">
            <a:noFill/>
          </a:ln>
        </p:spPr>
        <p:txBody>
          <a:bodyPr anchor="t" lIns="91440" rIns="91440" tIns="68580" bIns="68580" wrap="square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950" b="0" dirty="0">
                <a:solidFill>
                  <a:srgbClr val="6C5CE0"/>
                </a:solidFill>
                <a:latin typeface="Onest Medium" pitchFamily="2" charset="-52"/>
              </a:rPr>
              <a:t xml:space="preserve">Онлайн-курс «Как внедрить инструменты бережливого производства в свою работу» Мастерской управления «Сенеж» президентской платформы «Россия — страна возможностей». Обучение прошли все пять членов команды. Этот лист — приложение к справке проекта в части критерия «доля обученных в команде»: справка ссылается на него прямо.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Р7-Офис/2025.3.2.1000</Application>
  <DocSecurity>0</DocSecurity>
  <PresentationFormat>Широкоэкранный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Надежда Вячеславовна Гребенюк</dc:creator>
  <cp:keywords/>
  <dc:description/>
  <dc:identifier/>
  <dc:language/>
  <cp:lastModifiedBy>adelina.aksenova</cp:lastModifiedBy>
  <cp:revision>86</cp:revision>
  <dcterms:created xsi:type="dcterms:W3CDTF">2024-11-14T01:51:24Z</dcterms:created>
  <dcterms:modified xsi:type="dcterms:W3CDTF">2026-09-15T07:22:29Z</dcterms:modified>
  <cp:category/>
  <cp:contentStatus/>
  <cp:version/>
</cp:coreProperties>
</file>