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20"/>
    <p:sldId id="271" r:id="rId21"/>
    <p:sldId id="272" r:id="rId22"/>
    <p:sldId id="273" r:id="rId23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 xml:space="preserve">Оптимизация процесса устранения проблем благоустройства и содержания территории Благовещенского муниципального округа за счёт перехода от реагирования на обращения к их плановому выявлению и контролю результата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инициативные группы граждан, приём сообщений, четыре направления, подразделения-исполнители, Глава округа. Охват — 27 населённых пунктов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(архитектура и градостроительство)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возникновения проблемы содержания территории округа — до подтверждённого устранения и оценки результата жителем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инициативные группы граждан, выявляющие проблемы на территории; приём сообщений, три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плановое выявление проблем не ведётся — проблема попадает в работу после обращения жителя; канала для сообщений от инициативных групп граждан не предусмотрено; весь объём обращений вручную распределяет Глава округа; срок рассмотрения — 30 календарных дней, единый для обращений любой сложности; распределение проблем по объектам возникновения не ведётся; связь с заявителем ограничена письменным ответом по итогам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устранение проблемы начинается после обращения жителя; срок рассмотрения не зависит от сложности обращения; повторные обращения об одном объекте исполняются как отдельные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содержание территории округа; клиентоцентричность — федеральный проект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исполняется во всех муниципальных образованиях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3099816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протекания: возникновение проблемы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календ.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Проблемы, выявленные до обращения жителя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Обращения граждан по благоустройству и ЖКХ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шт./мес.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жителем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665976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381" y="960120"/>
            <a:ext cx="10349335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8705088" y="960120"/>
            <a:ext cx="3218688" cy="5779008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80"/>
              </a:spcAft>
              <a:buNone/>
            </a:pPr>
            <a:r>
              <a:rPr lang="ru-RU" sz="850" b="1" dirty="0">
                <a:solidFill>
                  <a:srgbClr val="6C5CE0"/>
                </a:solidFill>
                <a:latin typeface="Onest Black" pitchFamily="2" charset="-52"/>
              </a:rPr>
              <a:t xml:space="preserve">ВОСЕМЬ ВИДОВ ПОТЕРЬ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1. Перепроизводство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по каждому сообщению об одной проблеме заводится отдельная работа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2. Лишние движения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зона ответственности и история обращений ищутся вручную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3. Ненужная транспортировка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суть пересказывается по цепочке, детали теряются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4. Излишние запасы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очередь 2–8 сообщений, объём работы никому не виден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5. Избыточная обработка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одно сообщение переписывается трижды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6. Ожидание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ГЛАВНАЯ: до 14 дней проблема не выявлена и ещё до 30 — рассмотрение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7. Переделка и брак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фотофиксация устранения не предусмотрена — обращение поступает повторно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8. Неиспользование потенциала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сообщения инициативных групп в процесс не поступают; объём обращений распределяет Глава округа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700" b="0" dirty="0">
                <a:solidFill>
                  <a:srgbClr val="595959"/>
                </a:solidFill>
                <a:latin typeface="Onest Medium" pitchFamily="2" charset="-52"/>
              </a:rPr>
              <a:t xml:space="preserve">Классификация и порядок — обучающая презентация «Эффективного региона». Привязка к этапам — на карте текущего состояния.</a:t>
            </a:r>
          </a:p>
        </p:txBody>
      </p:sp>
      <p:pic>
        <p:nvPicPr>
          <p:cNvPr id="908" name="Рисунок 90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963994"/>
            <a:ext cx="8275320" cy="5771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9" name="Рисунок 90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16" y="960120"/>
            <a:ext cx="9981064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10" name="Таблица 910"/>
          <p:cNvGraphicFramePr>
            <a:graphicFrameLocks noGrp="1"/>
          </p:cNvGraphicFramePr>
          <p:nvPr/>
        </p:nvGraphicFramePr>
        <p:xfrm>
          <a:off x="338328" y="1225296"/>
          <a:ext cx="11301984" cy="486460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выявляется только по жалобе жителя: планового обхода территории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автору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1" name="Поле 911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администрации округа от 24.09.2026 № 534-р.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237744" y="1490472"/>
          <a:ext cx="11576304" cy="4608576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попадает в работу до обращения жителя; ресурс активных жителей включён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374904" y="1280160"/>
          <a:ext cx="11292840" cy="4526280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0292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возникновения проблемы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база — карта текущего состояния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проблем, выявленных до обращения жителя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заявки от инициативных групп в общем числе заявок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Количество обращений граждан по благоустройству и ЖКХ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шт./мес.; база — выгрузка из системы документооборота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 на одно сообщение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просрочка поднимается заму,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фотофиксацией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заявку без фото или отчёта нельзя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жителем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4" name="Поле 914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5" name="Рисунок 9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842" y="960120"/>
            <a:ext cx="9836411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6" name="Таблица 916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по жалобе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планового обхода территории нет; в сёлах округа проблема существует до месяца, прежде чем житель решится написать обращение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заявитель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активные жители видят проблемы каждый день, но канала, чтобы передать их в работу, у них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житель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7" name="Поле 917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10 до 44 календарных дней, из них до 14 дней проблема не выявлена. Очередь на разбор — 2–8 сообщений.</a:t>
            </a:r>
          </a:p>
        </p:txBody>
      </p:sp>
      <p:sp>
        <p:nvSpPr>
          <p:cNvPr id="918" name="Поле 918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9" name="Таблица 919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плановое, до жалобы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обходят закреплённую территорию и подают заявки сами; обращение жителя перестаёт быть единственным входом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инициативные группы и жители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жители, чаще других сообщавшие о проблемах, получают роль в сервисе — отдельной системы не требуется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4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автор заявки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0" name="Поле 920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Расчётное время протекания процесса — от 1 до 17 дней против 10–44. Очередь на разбор — ноль. Охват — 27 населённых пунктов.</a:t>
            </a:r>
          </a:p>
        </p:txBody>
      </p:sp>
      <p:sp>
        <p:nvSpPr>
          <p:cNvPr id="921" name="Поле 921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обезличенные экраны бота и панели администрации крупными фрагментами и диаграммы эффекта после мониторинга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2" name="Таблица 922"/>
          <p:cNvGraphicFramePr>
            <a:graphicFrameLocks noGrp="1"/>
          </p:cNvGraphicFramePr>
          <p:nvPr/>
        </p:nvGraphicFramePr>
        <p:xfrm>
          <a:off x="411480" y="1536192"/>
          <a:ext cx="11338560" cy="274320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администрации округа от 24.09.2026 № 534-р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подписано Главой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Роли и зоны ответственности, сроки по категориям, порядок эскалации, правила закрытия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разрабатывается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Участник инициативной группы, житель, исполнитель, руководитель направления,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Приказ об утверждении регламента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Вводит регламент в действие — без этого стандарт не считается применяемым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до 29.09.2026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3" name="Поле 923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4" name="Поле 924"/>
          <p:cNvSpPr txBox="1"/>
          <p:nvPr/>
        </p:nvSpPr>
        <p:spPr>
          <a:xfrm>
            <a:off x="411480" y="4498848"/>
            <a:ext cx="11338560" cy="329184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ИНСТРУМЕНТЫ БЕРЕЖЛИВОГО УПРАВЛЕНИЯ, ПРИМЕНЁННЫЕ В ПРОЕКТЕ — десять при пороге в пять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411480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1. Картирование процесса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три карты: текущее, целевое, достигнутое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2. Хронометраж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длительности этапов, лист гембы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3. Гемба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обход процесса на месте, потери подтверждены наблюдением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4. «Пять почему»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цепочка до коренной причины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5. Диаграмма Исикавы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13 факторов по пяти категориям</a:t>
            </a:r>
          </a:p>
        </p:txBody>
      </p:sp>
      <p:sp>
        <p:nvSpPr>
          <p:cNvPr id="926" name="Поле 926"/>
          <p:cNvSpPr txBox="1"/>
          <p:nvPr/>
        </p:nvSpPr>
        <p:spPr>
          <a:xfrm>
            <a:off x="6190488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6. Голос клиента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оценка жителя 1–5, оценка ≤ 2 возвращает заявку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7. Визуализация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панель: статусы, сроки, карта заявок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8. Канбан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доска заявок по статусам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9. Стандартизация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процесса и памятки по ролям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10. Защита от ошибок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закрыть без фото нельзя; сквозная дедупликация</a:t>
            </a:r>
          </a:p>
        </p:txBody>
      </p:sp>
      <p:sp>
        <p:nvSpPr>
          <p:cNvPr id="927" name="Поле 927"/>
          <p:cNvSpPr txBox="1"/>
          <p:nvPr/>
        </p:nvSpPr>
        <p:spPr>
          <a:xfrm>
            <a:off x="411480" y="641908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6C5CE0"/>
                </a:solidFill>
                <a:latin typeface="Onest Medium" pitchFamily="2" charset="-52"/>
              </a:rPr>
              <a:t xml:space="preserve">Сканы утверждённых документов со ссылками или QR-кодами прикладываются к этому слайду перед сдачей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сообщений, три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  <p:sp>
        <p:nvSpPr>
          <p:cNvPr id="928" name="Поле 928"/>
          <p:cNvSpPr txBox="1"/>
          <p:nvPr/>
        </p:nvSpPr>
        <p:spPr>
          <a:xfrm>
            <a:off x="384048" y="5321808"/>
            <a:ext cx="11420856" cy="132588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4000"/>
              </a:lnSpc>
              <a:spcAft>
                <a:spcPts val="22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ОБУЧЕНИЕ КОМАНДЫ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Команда «Лидеры перемен», 5 человек — курс «Как внедрить инструменты бережливого производства в свою работу» Мастерской управления «Сенеж», платформа «Россия — страна возможностей». </a:t>
            </a: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Обучение прошли все пятеро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; сертификаты прилагаются к справке проекта.</a:t>
            </a:r>
          </a:p>
          <a:p>
            <a:pPr algn="l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АКТУАЛЬНОСТЬ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Содержание территории — то, что жители видят каждый день; охват 27 населённых пунктов округа, большинство — сёла, где канала обращения фактически не было. Проект отвечает клиентоцентричности федерального проекта «Государство для людей» и практике платформы обратной связи. Процесс исполняется во всех муниципальных образованиях области.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Сервис глазами жителя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29" name="Поле 929"/>
          <p:cNvSpPr txBox="1"/>
          <p:nvPr/>
        </p:nvSpPr>
        <p:spPr>
          <a:xfrm>
            <a:off x="41148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Сообщение о проблеме с фотографией и геометкой; бот принял заявку и присвоил номер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житель-1-подача.png</a:t>
            </a:r>
          </a:p>
        </p:txBody>
      </p:sp>
      <p:sp>
        <p:nvSpPr>
          <p:cNvPr id="930" name="Поле 930"/>
          <p:cNvSpPr txBox="1"/>
          <p:nvPr/>
        </p:nvSpPr>
        <p:spPr>
          <a:xfrm>
            <a:off x="41148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31" name="Поле 931"/>
          <p:cNvSpPr txBox="1"/>
          <p:nvPr/>
        </p:nvSpPr>
        <p:spPr>
          <a:xfrm>
            <a:off x="428244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Уведомление автору: заявка взята в работу, назначен исполнитель и срок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житель-2-статус.png</a:t>
            </a:r>
          </a:p>
        </p:txBody>
      </p:sp>
      <p:sp>
        <p:nvSpPr>
          <p:cNvPr id="932" name="Поле 932"/>
          <p:cNvSpPr txBox="1"/>
          <p:nvPr/>
        </p:nvSpPr>
        <p:spPr>
          <a:xfrm>
            <a:off x="428244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33" name="Поле 933"/>
          <p:cNvSpPr txBox="1"/>
          <p:nvPr/>
        </p:nvSpPr>
        <p:spPr>
          <a:xfrm>
            <a:off x="815340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Фотография «после» от исполнителя и оценка результата по шкале 1–5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житель-3-результат.png</a:t>
            </a:r>
          </a:p>
        </p:txBody>
      </p:sp>
      <p:sp>
        <p:nvSpPr>
          <p:cNvPr id="934" name="Поле 934"/>
          <p:cNvSpPr txBox="1"/>
          <p:nvPr/>
        </p:nvSpPr>
        <p:spPr>
          <a:xfrm>
            <a:off x="815340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35" name="Поле 935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Весь путь жителя — в мессенджере: подача с фотографией и геометкой, уведомление о работе, фотография результата и оценка. Личные данные на снимках обезличены.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Панель администрации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14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36" name="Поле 936"/>
          <p:cNvSpPr txBox="1"/>
          <p:nvPr/>
        </p:nvSpPr>
        <p:spPr>
          <a:xfrm>
            <a:off x="41148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Карта заявок по территории округа — распределение проблем по объектам возникновения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панель-1-карта.png</a:t>
            </a:r>
          </a:p>
        </p:txBody>
      </p:sp>
      <p:sp>
        <p:nvSpPr>
          <p:cNvPr id="937" name="Поле 937"/>
          <p:cNvSpPr txBox="1"/>
          <p:nvPr/>
        </p:nvSpPr>
        <p:spPr>
          <a:xfrm>
            <a:off x="41148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38" name="Поле 938"/>
          <p:cNvSpPr txBox="1"/>
          <p:nvPr/>
        </p:nvSpPr>
        <p:spPr>
          <a:xfrm>
            <a:off x="428244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Сроки, нагрузка на исполнителей и статистика по направлениям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панель-2-статистика.png</a:t>
            </a:r>
          </a:p>
        </p:txBody>
      </p:sp>
      <p:sp>
        <p:nvSpPr>
          <p:cNvPr id="939" name="Поле 939"/>
          <p:cNvSpPr txBox="1"/>
          <p:nvPr/>
        </p:nvSpPr>
        <p:spPr>
          <a:xfrm>
            <a:off x="428244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40" name="Поле 940"/>
          <p:cNvSpPr txBox="1"/>
          <p:nvPr/>
        </p:nvSpPr>
        <p:spPr>
          <a:xfrm>
            <a:off x="815340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статус, срок, журнал событий, фотографии до и после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панель-3-карточка.png</a:t>
            </a:r>
          </a:p>
        </p:txBody>
      </p:sp>
      <p:sp>
        <p:nvSpPr>
          <p:cNvPr id="941" name="Поле 941"/>
          <p:cNvSpPr txBox="1"/>
          <p:nvPr/>
        </p:nvSpPr>
        <p:spPr>
          <a:xfrm>
            <a:off x="815340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42" name="Поле 942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Руководитель видит процесс целиком и в реальном времени: где проблемы, кто их ведёт, что просрочено. Прежде сводка собиралась вручную и занимала до недели.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Было и стало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15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43" name="Поле 943"/>
          <p:cNvSpPr txBox="1"/>
          <p:nvPr/>
        </p:nvSpPr>
        <p:spPr>
          <a:xfrm>
            <a:off x="41148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Было: журнал регистрации входящих и письменные заявления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было-1-журнал.png</a:t>
            </a:r>
          </a:p>
        </p:txBody>
      </p:sp>
      <p:sp>
        <p:nvSpPr>
          <p:cNvPr id="944" name="Поле 944"/>
          <p:cNvSpPr txBox="1"/>
          <p:nvPr/>
        </p:nvSpPr>
        <p:spPr>
          <a:xfrm>
            <a:off x="41148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45" name="Поле 945"/>
          <p:cNvSpPr txBox="1"/>
          <p:nvPr/>
        </p:nvSpPr>
        <p:spPr>
          <a:xfrm>
            <a:off x="428244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Было: карточка обращения в СЭД «Дело», поля заполняются вручную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было-2-сэд.png</a:t>
            </a:r>
          </a:p>
        </p:txBody>
      </p:sp>
      <p:sp>
        <p:nvSpPr>
          <p:cNvPr id="946" name="Поле 946"/>
          <p:cNvSpPr txBox="1"/>
          <p:nvPr/>
        </p:nvSpPr>
        <p:spPr>
          <a:xfrm>
            <a:off x="428244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47" name="Поле 947"/>
          <p:cNvSpPr txBox="1"/>
          <p:nvPr/>
        </p:nvSpPr>
        <p:spPr>
          <a:xfrm>
            <a:off x="815340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Стало: заявка пришла исполнителю с готовой категорией, адресом и сроком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стало-1-заявка.png</a:t>
            </a:r>
          </a:p>
        </p:txBody>
      </p:sp>
      <p:sp>
        <p:nvSpPr>
          <p:cNvPr id="948" name="Поле 948"/>
          <p:cNvSpPr txBox="1"/>
          <p:nvPr/>
        </p:nvSpPr>
        <p:spPr>
          <a:xfrm>
            <a:off x="815340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49" name="Поле 949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Одна и та же операция — приём сообщения и назначение исполнителя — до проекта и после. Слева ручная работа, справа она же без участия сотрудника.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Обучение команды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16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50" name="Рисунок 95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323" y="1143000"/>
            <a:ext cx="3190533" cy="2253996"/>
          </a:xfrm>
          <a:prstGeom prst="rect">
            <a:avLst/>
          </a:prstGeom>
        </p:spPr>
      </p:pic>
      <p:pic>
        <p:nvPicPr>
          <p:cNvPr id="951" name="Рисунок 95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9097" y="1143000"/>
            <a:ext cx="3190533" cy="2253996"/>
          </a:xfrm>
          <a:prstGeom prst="rect">
            <a:avLst/>
          </a:prstGeom>
        </p:spPr>
      </p:pic>
      <p:pic>
        <p:nvPicPr>
          <p:cNvPr id="952" name="Рисунок 95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323" y="3598164"/>
            <a:ext cx="3190533" cy="2253996"/>
          </a:xfrm>
          <a:prstGeom prst="rect">
            <a:avLst/>
          </a:prstGeom>
        </p:spPr>
      </p:pic>
      <p:pic>
        <p:nvPicPr>
          <p:cNvPr id="953" name="Рисунок 95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9097" y="3598164"/>
            <a:ext cx="3190533" cy="2253996"/>
          </a:xfrm>
          <a:prstGeom prst="rect">
            <a:avLst/>
          </a:prstGeom>
        </p:spPr>
      </p:pic>
      <p:sp>
        <p:nvSpPr>
          <p:cNvPr id="954" name="Поле 954"/>
          <p:cNvSpPr txBox="1"/>
          <p:nvPr/>
        </p:nvSpPr>
        <p:spPr>
          <a:xfrm>
            <a:off x="411480" y="5989320"/>
            <a:ext cx="1133856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Онлайн-курс «Как внедрить инструменты бережливого производства в свою работу» Мастерской управления «Сенеж» президентской платформы «Россия — страна возможностей». Обучение прошли все пять членов команды; сертификаты прилагаются к справке проекта.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