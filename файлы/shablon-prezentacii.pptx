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  <a:prstDash val="dashDot"/>
            </a:ln>
          </a:left>
          <a:right>
            <a:ln w="12700">
              <a:solidFill>
                <a:schemeClr val="lt1"/>
              </a:solidFill>
              <a:prstDash val="dashDot"/>
            </a:ln>
          </a:right>
          <a:top>
            <a:ln w="12700">
              <a:solidFill>
                <a:schemeClr val="lt1"/>
              </a:solidFill>
              <a:prstDash val="dashDot"/>
            </a:ln>
          </a:top>
          <a:bottom>
            <a:ln w="12700">
              <a:solidFill>
                <a:schemeClr val="lt1"/>
              </a:solidFill>
              <a:prstDash val="dashDot"/>
            </a:ln>
          </a:bottom>
          <a:insideH>
            <a:ln w="12700">
              <a:solidFill>
                <a:schemeClr val="lt1"/>
              </a:solidFill>
              <a:prstDash val="dashDot"/>
            </a:ln>
          </a:insideH>
          <a:insideV>
            <a:ln w="12700">
              <a:solidFill>
                <a:schemeClr val="lt1"/>
              </a:solidFill>
              <a:prstDash val="dashDot"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  <a:prstDash val="dashDot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  <a:prstDash val="dashDot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88" d="100"/>
          <a:sy n="88" d="100"/>
        </p:scale>
        <p:origin x="96" y="564"/>
      </p:cViewPr>
      <p:guideLst>
        <p:guide pos="504" orient="horz"/>
        <p:guide pos="211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AD45C37-5429-452C-9884-B95CAC5A9CFA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5C2CA87-212D-454A-952A-48DE2AAC87F0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" name="Рисунок 21"/>
          <p:cNvPicPr>
            <a:picLocks noChangeAspect="1"/>
          </p:cNvPicPr>
          <p:nvPr/>
        </p:nvPicPr>
        <p:blipFill>
          <a:blip r:embed="rId2"/>
          <a:srcRect l="0" t="0" r="47325" b="0"/>
          <a:stretch/>
        </p:blipFill>
        <p:spPr bwMode="auto">
          <a:xfrm>
            <a:off x="1" y="0"/>
            <a:ext cx="2329528" cy="6858000"/>
          </a:xfrm>
          <a:custGeom>
            <a:avLst/>
            <a:gdLst>
              <a:gd name="connsiteX0" fmla="*/ 0 w 2329528"/>
              <a:gd name="connsiteY0" fmla="*/ 0 h 6858000"/>
              <a:gd name="connsiteX1" fmla="*/ 1938995 w 2329528"/>
              <a:gd name="connsiteY1" fmla="*/ 0 h 6858000"/>
              <a:gd name="connsiteX2" fmla="*/ 2329528 w 2329528"/>
              <a:gd name="connsiteY2" fmla="*/ 390533 h 6858000"/>
              <a:gd name="connsiteX3" fmla="*/ 2329528 w 2329528"/>
              <a:gd name="connsiteY3" fmla="*/ 6467467 h 6858000"/>
              <a:gd name="connsiteX4" fmla="*/ 1938995 w 2329528"/>
              <a:gd name="connsiteY4" fmla="*/ 6858000 h 6858000"/>
              <a:gd name="connsiteX5" fmla="*/ 0 w 2329528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29528" h="6858000" fill="norm" stroke="1" extrusionOk="0">
                <a:moveTo>
                  <a:pt x="0" y="0"/>
                </a:moveTo>
                <a:lnTo>
                  <a:pt x="1938995" y="0"/>
                </a:lnTo>
                <a:cubicBezTo>
                  <a:pt x="2154680" y="0"/>
                  <a:pt x="2329528" y="174848"/>
                  <a:pt x="2329528" y="390533"/>
                </a:cubicBezTo>
                <a:lnTo>
                  <a:pt x="2329528" y="6467467"/>
                </a:lnTo>
                <a:cubicBezTo>
                  <a:pt x="2329528" y="6683152"/>
                  <a:pt x="2154680" y="6858000"/>
                  <a:pt x="1938995" y="6858000"/>
                </a:cubicBez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TextBox 6"/>
          <p:cNvSpPr txBox="1"/>
          <p:nvPr/>
        </p:nvSpPr>
        <p:spPr bwMode="auto">
          <a:xfrm>
            <a:off x="2329529" y="2891738"/>
            <a:ext cx="98624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400">
                <a:latin typeface="Onest Black"/>
              </a:rPr>
              <a:t>Оптимизация процесса (название)</a:t>
            </a:r>
            <a:endParaRPr lang="ru-RU" sz="2400">
              <a:latin typeface="Onest Black"/>
            </a:endParaRPr>
          </a:p>
        </p:txBody>
      </p:sp>
      <p:cxnSp>
        <p:nvCxnSpPr>
          <p:cNvPr id="10" name="Прямая соединительная линия 9"/>
          <p:cNvCxnSpPr>
            <a:cxnSpLocks/>
          </p:cNvCxnSpPr>
          <p:nvPr/>
        </p:nvCxnSpPr>
        <p:spPr bwMode="auto">
          <a:xfrm>
            <a:off x="4096512" y="2848717"/>
            <a:ext cx="6382512" cy="0"/>
          </a:xfrm>
          <a:prstGeom prst="line">
            <a:avLst/>
          </a:prstGeom>
          <a:ln w="3175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3161" y="2409579"/>
            <a:ext cx="1924980" cy="211676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 bwMode="auto">
          <a:xfrm>
            <a:off x="2329529" y="2510163"/>
            <a:ext cx="98624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1600">
                <a:solidFill>
                  <a:schemeClr val="tx1">
                    <a:lumMod val="65000"/>
                    <a:lumOff val="35000"/>
                  </a:schemeClr>
                </a:solidFill>
                <a:latin typeface="Onest Regular"/>
              </a:rPr>
              <a:t>Отчетная презентация проекта</a:t>
            </a:r>
            <a:endParaRPr lang="ru-RU" sz="1600">
              <a:solidFill>
                <a:schemeClr val="tx1">
                  <a:lumMod val="65000"/>
                  <a:lumOff val="35000"/>
                </a:schemeClr>
              </a:solidFill>
              <a:latin typeface="Onest Regular"/>
            </a:endParaRPr>
          </a:p>
        </p:txBody>
      </p:sp>
      <p:sp>
        <p:nvSpPr>
          <p:cNvPr id="26" name="Прямоугольник 25"/>
          <p:cNvSpPr/>
          <p:nvPr/>
        </p:nvSpPr>
        <p:spPr bwMode="auto">
          <a:xfrm>
            <a:off x="7543800" y="4710127"/>
            <a:ext cx="403245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1400">
                <a:solidFill>
                  <a:schemeClr val="tx1">
                    <a:lumMod val="75000"/>
                    <a:lumOff val="25000"/>
                  </a:schemeClr>
                </a:solidFill>
                <a:latin typeface="Onest Medium"/>
              </a:rPr>
              <a:t>ДОКЛАДЧИК:</a:t>
            </a:r>
            <a:endParaRPr/>
          </a:p>
          <a:p>
            <a:pPr>
              <a:defRPr/>
            </a:pPr>
            <a:endParaRPr lang="ru-RU" sz="1600">
              <a:solidFill>
                <a:schemeClr val="tx1">
                  <a:lumMod val="75000"/>
                  <a:lumOff val="25000"/>
                </a:schemeClr>
              </a:solidFill>
              <a:latin typeface="Onest Medium"/>
            </a:endParaRPr>
          </a:p>
          <a:p>
            <a:pPr>
              <a:defRPr/>
            </a:pPr>
            <a:r>
              <a:rPr lang="ru-RU" sz="1400">
                <a:solidFill>
                  <a:schemeClr val="tx1">
                    <a:lumMod val="75000"/>
                    <a:lumOff val="25000"/>
                  </a:schemeClr>
                </a:solidFill>
                <a:latin typeface="Onest Medium"/>
              </a:rPr>
              <a:t>ОРГАНИЗАЦИЯ:</a:t>
            </a:r>
            <a:endParaRPr lang="ru-RU" sz="1400">
              <a:solidFill>
                <a:schemeClr val="tx1">
                  <a:lumMod val="75000"/>
                  <a:lumOff val="25000"/>
                </a:schemeClr>
              </a:solidFill>
              <a:latin typeface="Onest Medium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251389" y="2948953"/>
            <a:ext cx="182675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4800">
                <a:solidFill>
                  <a:schemeClr val="bg1"/>
                </a:solidFill>
                <a:latin typeface="Onest Black"/>
              </a:rPr>
              <a:t>202</a:t>
            </a:r>
            <a:r>
              <a:rPr lang="en-US" sz="4800">
                <a:solidFill>
                  <a:schemeClr val="bg1"/>
                </a:solidFill>
                <a:latin typeface="Onest Black"/>
              </a:rPr>
              <a:t>6</a:t>
            </a:r>
            <a:endParaRPr lang="ru-RU" sz="3200">
              <a:solidFill>
                <a:schemeClr val="bg1"/>
              </a:solidFill>
              <a:latin typeface="Onest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9" name="Таблица 8"/>
          <p:cNvGraphicFramePr>
            <a:graphicFrameLocks xmlns:a="http://schemas.openxmlformats.org/drawingml/2006/main" noGrp="1"/>
          </p:cNvGraphicFramePr>
          <p:nvPr/>
        </p:nvGraphicFramePr>
        <p:xfrm>
          <a:off x="271837" y="1137316"/>
          <a:ext cx="11697827" cy="218571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5044380"/>
                <a:gridCol w="208280"/>
                <a:gridCol w="6445167"/>
              </a:tblGrid>
              <a:tr h="230300">
                <a:tc>
                  <a:txBody>
                    <a:bodyPr/>
                    <a:p>
                      <a:pPr algn="ctr">
                        <a:lnSpc>
                          <a:spcPct val="90000"/>
                        </a:lnSpc>
                        <a:defRPr/>
                      </a:pPr>
                      <a:r>
                        <a:rPr lang="ru-RU" sz="1100" b="1" spc="-1">
                          <a:solidFill>
                            <a:schemeClr val="tx1"/>
                          </a:solidFill>
                          <a:latin typeface="Onest Black"/>
                        </a:rPr>
                        <a:t>1. ВОВЛЕЧЕННЫЕ ЛИЦА И РАМКИ ПРОЕКТА</a:t>
                      </a:r>
                      <a:endParaRPr/>
                    </a:p>
                  </a:txBody>
                  <a:tcPr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dashDot"/>
                    </a:lnT>
                    <a:lnB w="12700" algn="ctr">
                      <a:solidFill>
                        <a:srgbClr val="9D8D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90000"/>
                        </a:lnSpc>
                        <a:defRPr/>
                      </a:pPr>
                      <a:endParaRPr lang="ru-RU" sz="1100" b="1" spc="-1">
                        <a:solidFill>
                          <a:schemeClr val="tx1"/>
                        </a:solidFill>
                        <a:latin typeface="Onest Black"/>
                        <a:ea typeface="+mn-ea"/>
                        <a:cs typeface="+mn-cs"/>
                      </a:endParaRPr>
                    </a:p>
                  </a:txBody>
                  <a:tcPr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dashDot"/>
                    </a:lnT>
                    <a:lnB w="12700" algn="ctr">
                      <a:solidFill>
                        <a:srgbClr val="9D8D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algn="ctr">
                        <a:lnSpc>
                          <a:spcPct val="90000"/>
                        </a:lnSpc>
                        <a:defRPr/>
                      </a:pPr>
                      <a:r>
                        <a:rPr lang="ru-RU" sz="1100" b="1" spc="-1">
                          <a:solidFill>
                            <a:schemeClr val="tx1"/>
                          </a:solidFill>
                          <a:latin typeface="Onest Black"/>
                          <a:ea typeface="+mn-ea"/>
                          <a:cs typeface="+mn-cs"/>
                        </a:rPr>
                        <a:t>2. ОБОСНОВАНИЕ ВЫБОРА</a:t>
                      </a:r>
                      <a:endParaRPr/>
                    </a:p>
                  </a:txBody>
                  <a:tcPr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dashDot"/>
                    </a:lnR>
                    <a:lnT w="12700" algn="ctr">
                      <a:noFill/>
                      <a:prstDash val="dashDot"/>
                    </a:lnT>
                    <a:lnB w="12700" algn="ctr">
                      <a:solidFill>
                        <a:srgbClr val="9D8DFF"/>
                      </a:solidFill>
                      <a:prstDash val="solid"/>
                    </a:lnB>
                    <a:noFill/>
                  </a:tcPr>
                </a:tc>
              </a:tr>
              <a:tr h="1943403">
                <a:tc>
                  <a:txBody>
                    <a:bodyPr/>
                    <a:p>
                      <a:pPr>
                        <a:spcAft>
                          <a:spcPts val="100"/>
                        </a:spcAft>
                        <a:defRPr/>
                      </a:pPr>
                      <a:r>
                        <a:rPr lang="ru-RU" sz="1100" b="0">
                          <a:solidFill>
                            <a:schemeClr val="tx1"/>
                          </a:solidFill>
                          <a:latin typeface="Onest Medium"/>
                          <a:ea typeface="+mn-ea"/>
                          <a:cs typeface="+mn-cs"/>
                        </a:rPr>
                        <a:t>Заказчики процесса: </a:t>
                      </a:r>
                      <a:r>
                        <a:rPr lang="ru-RU" sz="1100" b="0">
                          <a:solidFill>
                            <a:schemeClr val="tx1"/>
                          </a:solidFill>
                          <a:latin typeface="Onest Medium"/>
                          <a:ea typeface="+mn-ea"/>
                          <a:cs typeface="+mn-cs"/>
                        </a:rPr>
                        <a:t> </a:t>
                      </a:r>
                      <a:endParaRPr/>
                    </a:p>
                    <a:p>
                      <a:pPr>
                        <a:spcAft>
                          <a:spcPts val="100"/>
                        </a:spcAft>
                        <a:defRPr/>
                      </a:pPr>
                      <a:r>
                        <a:rPr lang="ru-RU" sz="1100" b="0">
                          <a:solidFill>
                            <a:schemeClr val="tx1"/>
                          </a:solidFill>
                          <a:latin typeface="Onest Medium"/>
                          <a:ea typeface="+mn-ea"/>
                          <a:cs typeface="+mn-cs"/>
                        </a:rPr>
                        <a:t>Периметр проекта:  </a:t>
                      </a:r>
                      <a:endParaRPr/>
                    </a:p>
                    <a:p>
                      <a:pPr>
                        <a:spcAft>
                          <a:spcPts val="100"/>
                        </a:spcAft>
                        <a:defRPr/>
                      </a:pPr>
                      <a:r>
                        <a:rPr lang="ru-RU" sz="1100" b="0">
                          <a:solidFill>
                            <a:schemeClr val="tx1"/>
                          </a:solidFill>
                          <a:latin typeface="Onest Medium"/>
                          <a:ea typeface="+mn-ea"/>
                          <a:cs typeface="+mn-cs"/>
                        </a:rPr>
                        <a:t>Границы проекта:  </a:t>
                      </a:r>
                      <a:endParaRPr/>
                    </a:p>
                    <a:p>
                      <a:pPr>
                        <a:spcAft>
                          <a:spcPts val="100"/>
                        </a:spcAft>
                        <a:defRPr/>
                      </a:pPr>
                      <a:r>
                        <a:rPr lang="ru-RU" sz="1100" b="0">
                          <a:solidFill>
                            <a:schemeClr val="tx1"/>
                          </a:solidFill>
                          <a:latin typeface="Onest Medium"/>
                          <a:ea typeface="+mn-ea"/>
                          <a:cs typeface="+mn-cs"/>
                        </a:rPr>
                        <a:t>Владелец процесса:  </a:t>
                      </a:r>
                      <a:endParaRPr/>
                    </a:p>
                    <a:p>
                      <a:pPr>
                        <a:spcAft>
                          <a:spcPts val="100"/>
                        </a:spcAft>
                        <a:defRPr/>
                      </a:pPr>
                      <a:r>
                        <a:rPr lang="ru-RU" sz="1100" b="0">
                          <a:solidFill>
                            <a:schemeClr val="tx1"/>
                          </a:solidFill>
                          <a:latin typeface="Onest Medium"/>
                          <a:ea typeface="+mn-ea"/>
                          <a:cs typeface="+mn-cs"/>
                        </a:rPr>
                        <a:t>Руководитель проекта:</a:t>
                      </a:r>
                      <a:endParaRPr lang="ru-RU" sz="1100" b="0">
                        <a:solidFill>
                          <a:schemeClr val="tx1"/>
                        </a:solidFill>
                        <a:latin typeface="Onest Medium"/>
                        <a:ea typeface="+mn-ea"/>
                        <a:cs typeface="+mn-cs"/>
                      </a:endParaRPr>
                    </a:p>
                    <a:p>
                      <a:pPr>
                        <a:spcAft>
                          <a:spcPts val="100"/>
                        </a:spcAft>
                        <a:defRPr/>
                      </a:pPr>
                      <a:r>
                        <a:rPr lang="ru-RU" sz="1100" b="0">
                          <a:solidFill>
                            <a:schemeClr val="tx1"/>
                          </a:solidFill>
                          <a:latin typeface="Onest Medium"/>
                          <a:ea typeface="+mn-ea"/>
                          <a:cs typeface="+mn-cs"/>
                        </a:rPr>
                        <a:t>Команда проекта:</a:t>
                      </a:r>
                      <a:endParaRPr lang="ru-RU" sz="1100" b="0">
                        <a:solidFill>
                          <a:schemeClr val="tx1"/>
                        </a:solidFill>
                        <a:latin typeface="Onest Medium"/>
                        <a:ea typeface="+mn-ea"/>
                        <a:cs typeface="+mn-cs"/>
                      </a:endParaRPr>
                    </a:p>
                  </a:txBody>
                  <a:tcPr>
                    <a:lnL w="12700" algn="ctr">
                      <a:noFill/>
                      <a:prstDash val="dashDot"/>
                    </a:lnL>
                    <a:lnR w="12700" algn="ctr">
                      <a:noFill/>
                      <a:prstDash val="solid"/>
                    </a:lnR>
                    <a:lnT w="12700" algn="ctr">
                      <a:solidFill>
                        <a:srgbClr val="9D8DFF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rgbClr val="9D8DFF">
                        <a:alpha val="3999"/>
                      </a:srgbClr>
                    </a:solidFill>
                  </a:tcPr>
                </a:tc>
                <a:tc>
                  <a:txBody>
                    <a:bodyPr/>
                    <a:p>
                      <a:pPr marL="0" indent="-228600">
                        <a:buFont typeface="+mj-lt"/>
                        <a:buNone/>
                        <a:defRPr/>
                      </a:pPr>
                      <a:endParaRPr lang="ru-RU" sz="800" b="0">
                        <a:solidFill>
                          <a:schemeClr val="tx1"/>
                        </a:solidFill>
                        <a:latin typeface="Onest Medium"/>
                        <a:ea typeface="+mn-ea"/>
                        <a:cs typeface="+mn-cs"/>
                      </a:endParaRPr>
                    </a:p>
                  </a:txBody>
                  <a:tcPr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solidFill>
                        <a:srgbClr val="9D8DFF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rgbClr val="9D8DFF">
                        <a:alpha val="3999"/>
                      </a:srgbClr>
                    </a:solidFill>
                  </a:tcPr>
                </a:tc>
                <a:tc>
                  <a:txBody>
                    <a:bodyPr/>
                    <a:p>
                      <a:pPr marL="0" algn="l">
                        <a:spcAft>
                          <a:spcPts val="100"/>
                        </a:spcAft>
                        <a:defRPr/>
                      </a:pPr>
                      <a:r>
                        <a:rPr lang="ru-RU" sz="1100" b="0">
                          <a:solidFill>
                            <a:schemeClr val="tx1"/>
                          </a:solidFill>
                          <a:latin typeface="Onest Medium"/>
                          <a:ea typeface="+mn-ea"/>
                          <a:cs typeface="+mn-cs"/>
                        </a:rPr>
                        <a:t>Описание проблемы:  </a:t>
                      </a:r>
                      <a:endParaRPr/>
                    </a:p>
                    <a:p>
                      <a:pPr marL="0" algn="l">
                        <a:spcAft>
                          <a:spcPts val="100"/>
                        </a:spcAft>
                        <a:defRPr/>
                      </a:pPr>
                      <a:r>
                        <a:rPr lang="ru-RU" sz="1100" b="0">
                          <a:solidFill>
                            <a:schemeClr val="tx1"/>
                          </a:solidFill>
                          <a:latin typeface="Onest Medium"/>
                          <a:ea typeface="+mn-ea"/>
                          <a:cs typeface="+mn-cs"/>
                        </a:rPr>
                        <a:t>Ключевой  риск: </a:t>
                      </a:r>
                      <a:endParaRPr/>
                    </a:p>
                  </a:txBody>
                  <a:tcPr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dashDot"/>
                    </a:lnR>
                    <a:lnT w="12700" algn="ctr">
                      <a:solidFill>
                        <a:srgbClr val="9D8DFF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rgbClr val="9D8DFF">
                        <a:alpha val="3999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xmlns:a="http://schemas.openxmlformats.org/drawingml/2006/main" noGrp="1"/>
          </p:cNvGraphicFramePr>
          <p:nvPr/>
        </p:nvGraphicFramePr>
        <p:xfrm>
          <a:off x="5486399" y="3469028"/>
          <a:ext cx="6429832" cy="324612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4504764"/>
                <a:gridCol w="962534"/>
                <a:gridCol w="962534"/>
              </a:tblGrid>
              <a:tr h="214314">
                <a:tc gridSpan="3"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100" b="1" spc="-1">
                          <a:solidFill>
                            <a:schemeClr val="tx1"/>
                          </a:solidFill>
                          <a:latin typeface="Onest Black"/>
                          <a:ea typeface="+mn-ea"/>
                          <a:cs typeface="+mn-cs"/>
                        </a:rPr>
                        <a:t>4. КЛЮЧЕВЫЕ СОБЫТИЯ ПРОЕКТА</a:t>
                      </a:r>
                      <a:endParaRPr/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04587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800" b="1">
                          <a:solidFill>
                            <a:schemeClr val="bg1"/>
                          </a:solidFill>
                          <a:latin typeface="Onest Black"/>
                          <a:ea typeface="Calibri"/>
                          <a:cs typeface="Times New Roman"/>
                        </a:rPr>
                        <a:t>Наименование</a:t>
                      </a:r>
                      <a:endParaRPr lang="ru-RU" sz="800">
                        <a:solidFill>
                          <a:schemeClr val="bg1"/>
                        </a:solidFill>
                        <a:latin typeface="Onest Black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800" b="1">
                          <a:solidFill>
                            <a:schemeClr val="bg1"/>
                          </a:solidFill>
                          <a:latin typeface="Onest Black"/>
                          <a:ea typeface="Calibri"/>
                          <a:cs typeface="Times New Roman"/>
                        </a:rPr>
                        <a:t>Начало</a:t>
                      </a:r>
                      <a:endParaRPr/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800" b="1">
                          <a:solidFill>
                            <a:schemeClr val="bg1"/>
                          </a:solidFill>
                          <a:latin typeface="Onest Black"/>
                          <a:ea typeface="Calibri"/>
                          <a:cs typeface="Times New Roman"/>
                        </a:rPr>
                        <a:t>Окончание</a:t>
                      </a:r>
                      <a:endParaRPr lang="ru-RU" sz="800" b="1">
                        <a:solidFill>
                          <a:schemeClr val="bg1"/>
                        </a:solidFill>
                        <a:latin typeface="Onest Black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180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700" b="1">
                          <a:solidFill>
                            <a:schemeClr val="tx1"/>
                          </a:solidFill>
                          <a:latin typeface="Onest Black"/>
                          <a:ea typeface="Calibri"/>
                          <a:cs typeface="Times New Roman"/>
                        </a:rPr>
                        <a:t>Старт </a:t>
                      </a:r>
                      <a:r>
                        <a:rPr lang="ru-RU" sz="700" b="1">
                          <a:solidFill>
                            <a:schemeClr val="tx1"/>
                          </a:solidFill>
                          <a:latin typeface="Onest Black"/>
                          <a:ea typeface="Calibri"/>
                          <a:cs typeface="Times New Roman"/>
                        </a:rPr>
                        <a:t> проекта</a:t>
                      </a:r>
                      <a:endParaRPr lang="ru-RU" sz="700" b="1">
                        <a:solidFill>
                          <a:schemeClr val="tx1"/>
                        </a:solidFill>
                        <a:latin typeface="Onest Black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</a:tr>
              <a:tr h="180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700" b="1">
                          <a:solidFill>
                            <a:schemeClr val="tx1"/>
                          </a:solidFill>
                          <a:latin typeface="Onest Black"/>
                          <a:ea typeface="Calibri"/>
                          <a:cs typeface="Times New Roman"/>
                        </a:rPr>
                        <a:t>1. Диагностика и целевое состояние</a:t>
                      </a:r>
                      <a:endParaRPr/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700" b="0">
                          <a:solidFill>
                            <a:schemeClr val="tx1"/>
                          </a:solidFill>
                          <a:latin typeface="Onest Medium"/>
                          <a:ea typeface="Calibri"/>
                          <a:cs typeface="Times New Roman"/>
                        </a:rPr>
                        <a:t>1.1. Разработка карты текущего состояния</a:t>
                      </a:r>
                      <a:endParaRPr/>
                    </a:p>
                  </a:txBody>
                  <a:tcPr marL="104775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</a:tr>
              <a:tr h="180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700" b="0">
                          <a:solidFill>
                            <a:schemeClr val="tx1"/>
                          </a:solidFill>
                          <a:latin typeface="Onest Medium"/>
                          <a:ea typeface="Calibri"/>
                          <a:cs typeface="Times New Roman"/>
                        </a:rPr>
                        <a:t>1.2. Сбор фактических данных</a:t>
                      </a:r>
                      <a:endParaRPr/>
                    </a:p>
                  </a:txBody>
                  <a:tcPr marL="104775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</a:tr>
              <a:tr h="180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700" b="0">
                          <a:solidFill>
                            <a:schemeClr val="tx1"/>
                          </a:solidFill>
                          <a:latin typeface="Onest Medium"/>
                          <a:ea typeface="Calibri"/>
                          <a:cs typeface="Times New Roman"/>
                        </a:rPr>
                        <a:t>1.3. Разработка карты целевого состояния</a:t>
                      </a:r>
                      <a:endParaRPr/>
                    </a:p>
                  </a:txBody>
                  <a:tcPr marL="104775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</a:tr>
              <a:tr h="180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700" b="0">
                          <a:solidFill>
                            <a:schemeClr val="tx1"/>
                          </a:solidFill>
                          <a:latin typeface="Onest Medium"/>
                          <a:ea typeface="Calibri"/>
                          <a:cs typeface="Times New Roman"/>
                        </a:rPr>
                        <a:t>1.4. Разработка плана мероприятий по реализации проекта</a:t>
                      </a:r>
                      <a:endParaRPr/>
                    </a:p>
                  </a:txBody>
                  <a:tcPr marL="104775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</a:tr>
              <a:tr h="180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700" b="1">
                          <a:solidFill>
                            <a:schemeClr val="tx1"/>
                          </a:solidFill>
                          <a:latin typeface="Onest Black"/>
                          <a:ea typeface="Calibri"/>
                          <a:cs typeface="Times New Roman"/>
                        </a:rPr>
                        <a:t>2. Реализация плана мероприятий по реализации проекта</a:t>
                      </a:r>
                      <a:endParaRPr/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700" b="0">
                          <a:solidFill>
                            <a:schemeClr val="tx1"/>
                          </a:solidFill>
                          <a:latin typeface="Onest Medium"/>
                          <a:ea typeface="Calibri"/>
                          <a:cs typeface="Times New Roman"/>
                        </a:rPr>
                        <a:t>2.1. Совещание по защите подходов внедрения</a:t>
                      </a:r>
                      <a:endParaRPr/>
                    </a:p>
                  </a:txBody>
                  <a:tcPr marL="104775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</a:tr>
              <a:tr h="180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700" b="0">
                          <a:solidFill>
                            <a:schemeClr val="tx1"/>
                          </a:solidFill>
                          <a:latin typeface="Onest Medium"/>
                          <a:ea typeface="Calibri"/>
                          <a:cs typeface="Times New Roman"/>
                        </a:rPr>
                        <a:t>2.2. Внедрение мероприятий</a:t>
                      </a:r>
                      <a:endParaRPr/>
                    </a:p>
                  </a:txBody>
                  <a:tcPr marL="104775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</a:tr>
              <a:tr h="180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700" b="1">
                          <a:solidFill>
                            <a:schemeClr val="tx1"/>
                          </a:solidFill>
                          <a:latin typeface="Onest Black"/>
                          <a:ea typeface="Calibri"/>
                          <a:cs typeface="Times New Roman"/>
                        </a:rPr>
                        <a:t>3. Анализ результатов и закрытие проекта</a:t>
                      </a:r>
                      <a:endParaRPr/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</a:tr>
              <a:tr h="180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700" b="0">
                          <a:solidFill>
                            <a:schemeClr val="tx1"/>
                          </a:solidFill>
                          <a:latin typeface="Onest Medium"/>
                          <a:ea typeface="Calibri"/>
                          <a:cs typeface="Times New Roman"/>
                        </a:rPr>
                        <a:t>3.1. Мониторинг достигнутых результатов</a:t>
                      </a:r>
                      <a:endParaRPr/>
                    </a:p>
                  </a:txBody>
                  <a:tcPr marL="104775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</a:tr>
              <a:tr h="180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700" b="0">
                          <a:solidFill>
                            <a:schemeClr val="tx1"/>
                          </a:solidFill>
                          <a:latin typeface="Onest Medium"/>
                          <a:ea typeface="Calibri"/>
                          <a:cs typeface="Times New Roman"/>
                        </a:rPr>
                        <a:t>3.2. Оформление карты достигнутого состояния процесса</a:t>
                      </a:r>
                      <a:endParaRPr/>
                    </a:p>
                  </a:txBody>
                  <a:tcPr marL="104775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</a:tr>
              <a:tr h="180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700" b="0">
                          <a:solidFill>
                            <a:schemeClr val="tx1"/>
                          </a:solidFill>
                          <a:latin typeface="Onest Medium"/>
                          <a:ea typeface="Calibri"/>
                          <a:cs typeface="Times New Roman"/>
                        </a:rPr>
                        <a:t>3.3. Разработка стандарта (норматива) и тиражирование</a:t>
                      </a:r>
                      <a:endParaRPr/>
                    </a:p>
                  </a:txBody>
                  <a:tcPr marL="104775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</a:tr>
              <a:tr h="180000">
                <a:tc>
                  <a:txBody>
                    <a:bodyPr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r>
                        <a:rPr lang="ru-RU" sz="700" b="0">
                          <a:solidFill>
                            <a:schemeClr val="tx1"/>
                          </a:solidFill>
                          <a:latin typeface="Onest Medium"/>
                          <a:ea typeface="Calibri"/>
                          <a:cs typeface="Times New Roman"/>
                        </a:rPr>
                        <a:t>3.4. Закрытие проекта (отчет руководителю)</a:t>
                      </a:r>
                      <a:endParaRPr/>
                    </a:p>
                  </a:txBody>
                  <a:tcPr marL="104775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/>
                      </a:pPr>
                      <a:endParaRPr lang="ru-RU" sz="7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Таблица 11"/>
          <p:cNvGraphicFramePr>
            <a:graphicFrameLocks xmlns:a="http://schemas.openxmlformats.org/drawingml/2006/main" noGrp="1"/>
          </p:cNvGraphicFramePr>
          <p:nvPr/>
        </p:nvGraphicFramePr>
        <p:xfrm>
          <a:off x="343274" y="3469028"/>
          <a:ext cx="5028826" cy="3263774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096693"/>
                <a:gridCol w="582110"/>
                <a:gridCol w="661671"/>
                <a:gridCol w="688352"/>
              </a:tblGrid>
              <a:tr h="249702">
                <a:tc gridSpan="4"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100" b="1" spc="-1">
                          <a:solidFill>
                            <a:schemeClr val="tx1"/>
                          </a:solidFill>
                          <a:latin typeface="Onest Black"/>
                          <a:ea typeface="+mn-ea"/>
                          <a:cs typeface="+mn-cs"/>
                        </a:rPr>
                        <a:t>3. ЦЕЛИ И ПЛАНОВЫЙ ЭФФЕКТ</a:t>
                      </a:r>
                      <a:endParaRPr/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220325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900" b="1">
                          <a:solidFill>
                            <a:schemeClr val="bg1"/>
                          </a:solidFill>
                          <a:latin typeface="Onest Black"/>
                          <a:ea typeface="Calibri"/>
                          <a:cs typeface="Times New Roman"/>
                        </a:rPr>
                        <a:t>Показатель</a:t>
                      </a:r>
                      <a:endParaRPr/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38100" algn="ctr">
                      <a:noFill/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900" b="1">
                          <a:solidFill>
                            <a:schemeClr val="bg1"/>
                          </a:solidFill>
                          <a:latin typeface="Onest Black"/>
                          <a:ea typeface="Calibri"/>
                          <a:cs typeface="Times New Roman"/>
                        </a:rPr>
                        <a:t>Ед. изм.</a:t>
                      </a:r>
                      <a:endParaRPr/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900" b="1">
                          <a:solidFill>
                            <a:schemeClr val="bg1"/>
                          </a:solidFill>
                          <a:latin typeface="Onest Black"/>
                          <a:ea typeface="Calibri"/>
                          <a:cs typeface="Times New Roman"/>
                        </a:rPr>
                        <a:t>База</a:t>
                      </a:r>
                      <a:endParaRPr/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900" b="1">
                          <a:solidFill>
                            <a:schemeClr val="bg1"/>
                          </a:solidFill>
                          <a:latin typeface="Onest Black"/>
                          <a:ea typeface="Calibri"/>
                          <a:cs typeface="Times New Roman"/>
                        </a:rPr>
                        <a:t>Цель</a:t>
                      </a:r>
                      <a:endParaRPr/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616910">
                <a:tc>
                  <a:txBody>
                    <a:bodyPr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900" b="0">
                        <a:solidFill>
                          <a:schemeClr val="tx1"/>
                        </a:solidFill>
                        <a:latin typeface="Onest Medium"/>
                        <a:ea typeface="Calibri"/>
                        <a:cs typeface="Times New Roman"/>
                      </a:endParaRPr>
                    </a:p>
                  </a:txBody>
                  <a:tcPr marL="38100" marR="38100" anchor="ctr">
                    <a:lnL w="381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381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ru-RU" sz="9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127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ru-RU" sz="9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127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ru-RU" sz="9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49105">
                <a:tc>
                  <a:txBody>
                    <a:bodyPr/>
                    <a:p>
                      <a:pPr marL="0" marR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900" b="0">
                        <a:solidFill>
                          <a:schemeClr val="tx1"/>
                        </a:solidFill>
                        <a:latin typeface="Onest Medium"/>
                        <a:ea typeface="Calibri"/>
                        <a:cs typeface="Times New Roman"/>
                      </a:endParaRPr>
                    </a:p>
                  </a:txBody>
                  <a:tcPr marL="38100" marR="38100" anchor="ctr">
                    <a:lnL w="381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ru-RU" sz="9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ru-RU" sz="9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ru-RU" sz="9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410079">
                <a:tc>
                  <a:txBody>
                    <a:bodyPr/>
                    <a:p>
                      <a:pPr algn="l">
                        <a:defRPr/>
                      </a:pPr>
                      <a:endParaRPr lang="ru-RU" sz="900" b="0">
                        <a:solidFill>
                          <a:schemeClr val="tx1"/>
                        </a:solidFill>
                        <a:latin typeface="Onest Medium"/>
                        <a:ea typeface="Calibri"/>
                        <a:cs typeface="Times New Roman"/>
                      </a:endParaRPr>
                    </a:p>
                  </a:txBody>
                  <a:tcPr marL="38100" marR="38100" anchor="ctr">
                    <a:lnL w="38100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38100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ru-RU" sz="9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ru-RU" sz="9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endParaRPr lang="ru-RU" sz="900" b="1">
                        <a:solidFill>
                          <a:schemeClr val="tx1"/>
                        </a:solidFill>
                        <a:latin typeface="TT Norms Regular"/>
                        <a:ea typeface="Calibri"/>
                        <a:cs typeface="Times New Roman"/>
                      </a:endParaRP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Прямоугольник 2"/>
          <p:cNvSpPr/>
          <p:nvPr/>
        </p:nvSpPr>
        <p:spPr bwMode="auto">
          <a:xfrm rot="5400000">
            <a:off x="1590789" y="-1267046"/>
            <a:ext cx="656216" cy="3837793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15" name="Заголовок 1"/>
          <p:cNvSpPr/>
          <p:nvPr/>
        </p:nvSpPr>
        <p:spPr bwMode="auto">
          <a:xfrm>
            <a:off x="53788" y="481749"/>
            <a:ext cx="3837792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КАРТОЧКА ПРОЕКТА</a:t>
            </a:r>
            <a:endParaRPr/>
          </a:p>
        </p:txBody>
      </p:sp>
      <p:grpSp>
        <p:nvGrpSpPr>
          <p:cNvPr id="3" name="Группа 2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2" name="Овал 1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7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1</a:t>
              </a:r>
              <a:endParaRPr lang="ru-RU" sz="2400">
                <a:latin typeface="Onest ExtraBold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Прямоугольник 2"/>
          <p:cNvSpPr/>
          <p:nvPr/>
        </p:nvSpPr>
        <p:spPr bwMode="auto">
          <a:xfrm rot="5400000">
            <a:off x="2436608" y="-2112865"/>
            <a:ext cx="656216" cy="5529430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9" name="Заголовок 1"/>
          <p:cNvSpPr/>
          <p:nvPr/>
        </p:nvSpPr>
        <p:spPr bwMode="auto">
          <a:xfrm>
            <a:off x="236667" y="481750"/>
            <a:ext cx="5755341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КАРТА ТЕКУЩЕГО СОСТОЯНИЯ</a:t>
            </a:r>
            <a:endParaRPr lang="ru-RU" sz="2400">
              <a:latin typeface="Onest Black"/>
            </a:endParaRPr>
          </a:p>
        </p:txBody>
      </p:sp>
      <p:grpSp>
        <p:nvGrpSpPr>
          <p:cNvPr id="16" name="Группа 1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7" name="Овал 1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400">
                  <a:latin typeface="Onest ExtraBold"/>
                </a:rPr>
                <a:t>2</a:t>
              </a:r>
              <a:endParaRPr lang="ru-RU" sz="2400">
                <a:latin typeface="Onest ExtraBold"/>
              </a:endParaRPr>
            </a:p>
          </p:txBody>
        </p:sp>
      </p:grp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rcRect l="0" t="1615" r="0" b="0"/>
          <a:stretch/>
        </p:blipFill>
        <p:spPr bwMode="auto">
          <a:xfrm>
            <a:off x="1144945" y="1929160"/>
            <a:ext cx="9939329" cy="43378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1452283" y="-1128540"/>
            <a:ext cx="656216" cy="3560780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5755341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АНАЛИЗ ПРОБЛЕМ</a:t>
            </a:r>
            <a:endParaRPr lang="ru-RU" sz="2400">
              <a:latin typeface="Onest Black"/>
            </a:endParaRPr>
          </a:p>
        </p:txBody>
      </p:sp>
      <p:grpSp>
        <p:nvGrpSpPr>
          <p:cNvPr id="9" name="Группа 8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0" name="Овал 9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1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3</a:t>
              </a:r>
              <a:endParaRPr lang="ru-RU" sz="2400">
                <a:latin typeface="Onest ExtraBold"/>
              </a:endParaRPr>
            </a:p>
          </p:txBody>
        </p:sp>
      </p:grpSp>
      <p:sp>
        <p:nvSpPr>
          <p:cNvPr id="12" name="TextBox 11"/>
          <p:cNvSpPr txBox="1"/>
          <p:nvPr/>
        </p:nvSpPr>
        <p:spPr bwMode="auto">
          <a:xfrm>
            <a:off x="236666" y="1751882"/>
            <a:ext cx="8263261" cy="1219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6811FF"/>
              </a:buClr>
              <a:buFont typeface="Onest Medium"/>
              <a:buChar char="→"/>
              <a:defRPr/>
            </a:pPr>
            <a:r>
              <a:rPr lang="ru-RU" sz="1600">
                <a:latin typeface="Onest Medium"/>
              </a:rPr>
              <a:t>Опишите </a:t>
            </a:r>
            <a:r>
              <a:rPr lang="ru-RU" sz="1600">
                <a:latin typeface="Onest Black"/>
              </a:rPr>
              <a:t>инструменты бережливого управления</a:t>
            </a:r>
            <a:r>
              <a:rPr lang="ru-RU" sz="1600">
                <a:latin typeface="Onest Medium"/>
              </a:rPr>
              <a:t>, при помощи которых были проанализированы проблемы в процессе и выявлены их коренные причины.</a:t>
            </a:r>
            <a:endParaRPr/>
          </a:p>
          <a:p>
            <a:pPr>
              <a:defRPr/>
            </a:pPr>
            <a:r>
              <a:rPr lang="ru-RU" sz="1400">
                <a:latin typeface="Onest Regular"/>
              </a:rPr>
              <a:t>*можно использовать: таблицы, диаграммы, фотографии, описание и т.д.</a:t>
            </a:r>
            <a:endParaRPr lang="ru-RU" sz="1400">
              <a:latin typeface="Onest Regular"/>
            </a:endParaRPr>
          </a:p>
          <a:p>
            <a:pPr>
              <a:defRPr/>
            </a:pPr>
            <a:r>
              <a:rPr lang="ru-RU" sz="1400">
                <a:latin typeface="Onest Regular"/>
              </a:rPr>
              <a:t>*инструменты: «5 почему», диаграмма Спагетти, Пирамида проблем, </a:t>
            </a:r>
            <a:r>
              <a:rPr lang="ru-RU" sz="1400" b="0" i="0" u="none" strike="noStrike" cap="none" spc="0">
                <a:solidFill>
                  <a:schemeClr val="tx1"/>
                </a:solidFill>
                <a:latin typeface="Onest Regular"/>
                <a:ea typeface="Onest Regular"/>
                <a:cs typeface="Onest Regular"/>
              </a:rPr>
              <a:t>Диаграмма Исикавы («рыбья кость»)</a:t>
            </a:r>
            <a:r>
              <a:rPr lang="ru-RU" sz="1400" b="0" i="0" u="none" strike="noStrike" cap="none" spc="0">
                <a:solidFill>
                  <a:schemeClr val="tx1"/>
                </a:solidFill>
                <a:latin typeface="Onest Regular"/>
                <a:ea typeface="Onest Regular"/>
                <a:cs typeface="Onest Regular"/>
              </a:rPr>
              <a:t> и т.д. - на выбор</a:t>
            </a:r>
            <a:endParaRPr lang="ru-RU" sz="1400">
              <a:latin typeface="Onest Regula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Прямоугольник 2"/>
          <p:cNvSpPr/>
          <p:nvPr/>
        </p:nvSpPr>
        <p:spPr bwMode="auto">
          <a:xfrm rot="5400000">
            <a:off x="2436608" y="-2112865"/>
            <a:ext cx="656216" cy="5529430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7" name="Заголовок 1"/>
          <p:cNvSpPr/>
          <p:nvPr/>
        </p:nvSpPr>
        <p:spPr bwMode="auto">
          <a:xfrm>
            <a:off x="236667" y="481750"/>
            <a:ext cx="5755341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КАРТА ЦЕЛЕВОГО СОСТОЯНИЯ</a:t>
            </a:r>
            <a:endParaRPr lang="ru-RU" sz="2400">
              <a:latin typeface="Onest Black"/>
            </a:endParaRPr>
          </a:p>
        </p:txBody>
      </p:sp>
      <p:grpSp>
        <p:nvGrpSpPr>
          <p:cNvPr id="11" name="Группа 10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2" name="Овал 11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3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4</a:t>
              </a:r>
              <a:endParaRPr lang="ru-RU" sz="2400">
                <a:latin typeface="Onest ExtraBold"/>
              </a:endParaRPr>
            </a:p>
          </p:txBody>
        </p:sp>
      </p:grp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44945" y="1748202"/>
            <a:ext cx="9694126" cy="44090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1678193" y="-1354451"/>
            <a:ext cx="656216" cy="4012601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5755341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ПЛАН МЕРОПРИЯТИЙ</a:t>
            </a:r>
            <a:endParaRPr lang="ru-RU" sz="2400">
              <a:latin typeface="Onest Black"/>
            </a:endParaRPr>
          </a:p>
        </p:txBody>
      </p:sp>
      <p:grpSp>
        <p:nvGrpSpPr>
          <p:cNvPr id="6" name="Группа 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7" name="Овал 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6</a:t>
              </a:r>
              <a:endParaRPr/>
            </a:p>
          </p:txBody>
        </p:sp>
      </p:grpSp>
      <p:graphicFrame>
        <p:nvGraphicFramePr>
          <p:cNvPr id="9" name="Таблица 8"/>
          <p:cNvGraphicFramePr>
            <a:graphicFrameLocks xmlns:a="http://schemas.openxmlformats.org/drawingml/2006/main" noGrp="1"/>
          </p:cNvGraphicFramePr>
          <p:nvPr/>
        </p:nvGraphicFramePr>
        <p:xfrm>
          <a:off x="334963" y="1284271"/>
          <a:ext cx="11260299" cy="5136195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640341"/>
                <a:gridCol w="2652844"/>
                <a:gridCol w="3567614"/>
                <a:gridCol w="2252415"/>
                <a:gridCol w="2195461"/>
              </a:tblGrid>
              <a:tr h="734227"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 b="1" strike="noStrike" spc="-1">
                          <a:solidFill>
                            <a:schemeClr val="bg1"/>
                          </a:solidFill>
                          <a:latin typeface="Onest Black"/>
                          <a:ea typeface="+mn-ea"/>
                          <a:cs typeface="+mn-cs"/>
                        </a:rPr>
                        <a:t>№ </a:t>
                      </a:r>
                      <a:endParaRPr/>
                    </a:p>
                    <a:p>
                      <a:pPr mar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 b="1" strike="noStrike" spc="-1">
                          <a:solidFill>
                            <a:schemeClr val="bg1"/>
                          </a:solidFill>
                          <a:latin typeface="Onest Black"/>
                          <a:ea typeface="+mn-ea"/>
                          <a:cs typeface="+mn-cs"/>
                        </a:rPr>
                        <a:t>п/п</a:t>
                      </a:r>
                      <a:endParaRPr/>
                    </a:p>
                  </a:txBody>
                  <a:tcPr marL="9728" marR="9728" marT="9728" marB="9728" anchor="ctr">
                    <a:lnL w="1905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1905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marL="720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 b="0" strike="noStrike" spc="-1">
                          <a:solidFill>
                            <a:schemeClr val="lt1"/>
                          </a:solidFill>
                          <a:latin typeface="Onest ExtraBold"/>
                          <a:ea typeface="+mn-ea"/>
                          <a:cs typeface="+mn-cs"/>
                        </a:rPr>
                        <a:t>Описание проблемы</a:t>
                      </a:r>
                      <a:endParaRPr/>
                    </a:p>
                  </a:txBody>
                  <a:tcPr marL="9728" marR="9728" marT="9728" marB="9728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19050" algn="ctr">
                      <a:noFill/>
                      <a:prstDash val="solid"/>
                    </a:lnT>
                    <a:lnB w="28575" algn="ctr">
                      <a:noFill/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marL="720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 b="0" strike="noStrike" spc="-1">
                          <a:solidFill>
                            <a:schemeClr val="lt1"/>
                          </a:solidFill>
                          <a:latin typeface="Onest ExtraBold"/>
                          <a:ea typeface="+mn-ea"/>
                          <a:cs typeface="+mn-cs"/>
                        </a:rPr>
                        <a:t>Мероприятия </a:t>
                      </a:r>
                      <a:endParaRPr/>
                    </a:p>
                    <a:p>
                      <a:pPr marL="720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 b="0" strike="noStrike" spc="-1">
                          <a:solidFill>
                            <a:schemeClr val="lt1"/>
                          </a:solidFill>
                          <a:latin typeface="Onest ExtraBold"/>
                          <a:ea typeface="+mn-ea"/>
                          <a:cs typeface="+mn-cs"/>
                        </a:rPr>
                        <a:t>по решению проблем</a:t>
                      </a:r>
                      <a:endParaRPr/>
                    </a:p>
                  </a:txBody>
                  <a:tcPr marL="9728" marR="9728" marT="9728" marB="9728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19050" algn="ctr">
                      <a:noFill/>
                      <a:prstDash val="solid"/>
                    </a:lnT>
                    <a:lnB w="28575" algn="ctr">
                      <a:noFill/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marL="720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 b="0" strike="noStrike" spc="-1">
                          <a:solidFill>
                            <a:schemeClr val="lt1"/>
                          </a:solidFill>
                          <a:latin typeface="Onest ExtraBold"/>
                          <a:ea typeface="+mn-ea"/>
                          <a:cs typeface="+mn-cs"/>
                        </a:rPr>
                        <a:t>Ответственные исполнители</a:t>
                      </a:r>
                      <a:endParaRPr/>
                    </a:p>
                  </a:txBody>
                  <a:tcPr marL="9728" marR="9728" marT="9728" marB="9728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19050" algn="ctr">
                      <a:noFill/>
                      <a:prstDash val="solid"/>
                    </a:lnT>
                    <a:lnB w="28575" algn="ctr">
                      <a:noFill/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marL="7200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lang="ru-RU" sz="1400" b="0" strike="noStrike" spc="-1">
                          <a:solidFill>
                            <a:schemeClr val="lt1"/>
                          </a:solidFill>
                          <a:latin typeface="Onest ExtraBold"/>
                          <a:ea typeface="+mn-ea"/>
                          <a:cs typeface="+mn-cs"/>
                        </a:rPr>
                        <a:t>Срок выполнения мероприятий</a:t>
                      </a:r>
                      <a:endParaRPr/>
                    </a:p>
                  </a:txBody>
                  <a:tcPr marL="9728" marR="9728" marT="9728" marB="9728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9050" algn="ctr">
                      <a:noFill/>
                      <a:prstDash val="solid"/>
                    </a:lnR>
                    <a:lnT w="19050" algn="ctr">
                      <a:noFill/>
                      <a:prstDash val="solid"/>
                    </a:lnT>
                    <a:lnB w="28575" algn="ctr">
                      <a:noFill/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889552"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r>
                        <a:rPr lang="ru-RU" sz="1400" b="1" strike="noStrike" spc="-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nest Black"/>
                          <a:ea typeface="+mn-ea"/>
                          <a:cs typeface="+mn-cs"/>
                        </a:rPr>
                        <a:t>1</a:t>
                      </a:r>
                      <a:endParaRPr/>
                    </a:p>
                    <a:p>
                      <a:pPr marL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endParaRPr lang="ru-RU" sz="1400" b="1" strike="noStrike" spc="-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nest Black"/>
                        <a:ea typeface="+mn-ea"/>
                        <a:cs typeface="+mn-cs"/>
                      </a:endParaRPr>
                    </a:p>
                  </a:txBody>
                  <a:tcPr marL="9728" marR="9728" marT="9728" marB="9728" anchor="b">
                    <a:lnL w="19050" algn="ctr">
                      <a:noFill/>
                      <a:prstDash val="solid"/>
                    </a:lnL>
                    <a:lnR w="28575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 marL="7200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endParaRPr lang="ru-RU" sz="1200" b="0" strike="noStrike" spc="-1">
                        <a:solidFill>
                          <a:srgbClr val="000000"/>
                        </a:solidFill>
                        <a:latin typeface="TT Norms Regular"/>
                        <a:ea typeface="+mn-ea"/>
                        <a:cs typeface="+mn-cs"/>
                      </a:endParaRPr>
                    </a:p>
                  </a:txBody>
                  <a:tcPr marL="9728" marR="9728" marT="9728" marB="9728" anchor="ctr">
                    <a:lnL w="28575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7200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endParaRPr lang="ru-RU" sz="1200" b="1" strike="noStrike" spc="-1">
                        <a:solidFill>
                          <a:srgbClr val="000000"/>
                        </a:solidFill>
                        <a:latin typeface="TT Norms Regular"/>
                        <a:ea typeface="+mn-ea"/>
                        <a:cs typeface="+mn-cs"/>
                      </a:endParaRPr>
                    </a:p>
                  </a:txBody>
                  <a:tcPr marL="9728" marR="9728" marT="9728" marB="9728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720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endParaRPr lang="ru-RU" sz="1200" b="1" strike="noStrike" spc="-1">
                        <a:solidFill>
                          <a:srgbClr val="000000"/>
                        </a:solidFill>
                        <a:latin typeface="TT Norms Regular"/>
                        <a:ea typeface="+mn-ea"/>
                        <a:cs typeface="+mn-cs"/>
                      </a:endParaRPr>
                    </a:p>
                  </a:txBody>
                  <a:tcPr marL="9728" marR="9728" marT="9728" marB="9728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720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endParaRPr lang="ru-RU" sz="1200" b="1" strike="noStrike" spc="-1">
                        <a:solidFill>
                          <a:srgbClr val="000000"/>
                        </a:solidFill>
                        <a:latin typeface="TT Norms Regular"/>
                        <a:ea typeface="+mn-ea"/>
                        <a:cs typeface="+mn-cs"/>
                      </a:endParaRPr>
                    </a:p>
                  </a:txBody>
                  <a:tcPr marL="9728" marR="9728" marT="9728" marB="9728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60854"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r>
                        <a:rPr lang="ru-RU" sz="1400" b="1" strike="noStrike" spc="-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nest Black"/>
                          <a:ea typeface="+mn-ea"/>
                          <a:cs typeface="+mn-cs"/>
                        </a:rPr>
                        <a:t>2</a:t>
                      </a:r>
                      <a:endParaRPr/>
                    </a:p>
                    <a:p>
                      <a:pPr marL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endParaRPr lang="ru-RU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nest Black"/>
                      </a:endParaRPr>
                    </a:p>
                    <a:p>
                      <a:pPr marL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endParaRPr lang="ru-RU" sz="800" b="1" strike="noStrike" spc="-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nest Black"/>
                        <a:ea typeface="+mn-ea"/>
                        <a:cs typeface="+mn-cs"/>
                      </a:endParaRPr>
                    </a:p>
                  </a:txBody>
                  <a:tcPr marL="9728" marR="9728" marT="9728" marB="9728" anchor="b">
                    <a:lnL w="19050" algn="ctr">
                      <a:noFill/>
                      <a:prstDash val="solid"/>
                    </a:lnL>
                    <a:lnR w="28575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100"/>
                    </a:p>
                  </a:txBody>
                  <a:tcPr marL="9728" marR="9728" marT="9728" marB="9728" anchor="ctr">
                    <a:lnL w="28575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100"/>
                    </a:p>
                  </a:txBody>
                  <a:tcPr marL="9728" marR="9728" marT="9728" marB="9728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720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endParaRPr lang="ru-RU" sz="1200" b="1" strike="noStrike" spc="-1">
                        <a:solidFill>
                          <a:srgbClr val="000000"/>
                        </a:solidFill>
                        <a:latin typeface="TT Norms Regular"/>
                        <a:ea typeface="+mn-ea"/>
                        <a:cs typeface="+mn-cs"/>
                      </a:endParaRPr>
                    </a:p>
                  </a:txBody>
                  <a:tcPr marL="9728" marR="9728" marT="9728" marB="9728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7200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br>
                        <a:rPr lang="ru-RU" sz="1200" b="1" strike="noStrike" spc="-1">
                          <a:solidFill>
                            <a:srgbClr val="000000"/>
                          </a:solidFill>
                          <a:latin typeface="TT Norms Regular"/>
                          <a:ea typeface="+mn-ea"/>
                          <a:cs typeface="+mn-cs"/>
                        </a:rPr>
                      </a:br>
                      <a:endParaRPr lang="ru-RU" sz="1200" b="1" strike="noStrike" spc="-1">
                        <a:solidFill>
                          <a:srgbClr val="000000"/>
                        </a:solidFill>
                        <a:latin typeface="TT Norms Regular"/>
                        <a:ea typeface="+mn-ea"/>
                        <a:cs typeface="+mn-cs"/>
                      </a:endParaRPr>
                    </a:p>
                  </a:txBody>
                  <a:tcPr marL="9728" marR="9728" marT="9728" marB="9728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141016">
                <a:tc>
                  <a:txBody>
                    <a:bodyPr/>
                    <a:p>
                      <a:pPr marL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r>
                        <a:rPr lang="ru-RU" sz="1400" b="1" strike="noStrike" spc="-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nest Black"/>
                          <a:ea typeface="+mn-ea"/>
                          <a:cs typeface="+mn-cs"/>
                        </a:rPr>
                        <a:t>3</a:t>
                      </a:r>
                      <a:endParaRPr/>
                    </a:p>
                    <a:p>
                      <a:pPr marL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endParaRPr lang="ru-RU" sz="1400" b="1" strike="noStrike" spc="-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nest Black"/>
                        <a:ea typeface="+mn-ea"/>
                        <a:cs typeface="+mn-cs"/>
                      </a:endParaRPr>
                    </a:p>
                    <a:p>
                      <a:pPr marL="0" algn="ctr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defRPr/>
                      </a:pPr>
                      <a:endParaRPr lang="ru-RU" sz="1400" b="1" strike="noStrike" spc="-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nest Black"/>
                        <a:ea typeface="+mn-ea"/>
                        <a:cs typeface="+mn-cs"/>
                      </a:endParaRPr>
                    </a:p>
                  </a:txBody>
                  <a:tcPr marL="9728" marR="9728" marT="9728" marB="9728" anchor="b">
                    <a:lnL w="19050" algn="ctr">
                      <a:noFill/>
                      <a:prstDash val="solid"/>
                    </a:lnL>
                    <a:lnR w="28575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100"/>
                    </a:p>
                  </a:txBody>
                  <a:tcPr marL="9728" marR="9728" marT="9728" marB="9728" anchor="ctr">
                    <a:lnL w="28575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100"/>
                    </a:p>
                  </a:txBody>
                  <a:tcPr marL="9728" marR="9728" marT="9728" marB="9728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100"/>
                    </a:p>
                  </a:txBody>
                  <a:tcPr marL="9728" marR="9728" marT="9728" marB="9728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100"/>
                    </a:p>
                  </a:txBody>
                  <a:tcPr marL="9728" marR="9728" marT="9728" marB="9728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410546">
                <a:tc>
                  <a:txBody>
                    <a:bodyPr/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400" b="1" strike="noStrike" spc="-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nest Black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300" b="1" strike="noStrike" spc="-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nest Black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400" b="1" strike="noStrike" spc="-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nest Black"/>
                          <a:ea typeface="+mn-ea"/>
                          <a:cs typeface="+mn-cs"/>
                        </a:rPr>
                        <a:t>4</a:t>
                      </a:r>
                      <a:endParaRPr/>
                    </a:p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600" b="1" strike="noStrike" spc="-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nest Black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400" b="1" strike="noStrike" spc="-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nest Black"/>
                        <a:ea typeface="+mn-ea"/>
                        <a:cs typeface="+mn-cs"/>
                      </a:endParaRPr>
                    </a:p>
                  </a:txBody>
                  <a:tcPr marL="9728" marR="9728" marT="9728" marB="9728" anchor="b">
                    <a:lnL w="19050" algn="ctr">
                      <a:noFill/>
                      <a:prstDash val="solid"/>
                    </a:lnL>
                    <a:lnR w="28575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9050" algn="ctr">
                      <a:noFill/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100"/>
                    </a:p>
                  </a:txBody>
                  <a:tcPr marL="9728" marR="9728" marT="9728" marB="9728" anchor="ctr">
                    <a:lnL w="28575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100"/>
                    </a:p>
                  </a:txBody>
                  <a:tcPr marL="9728" marR="9728" marT="9728" marB="9728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100"/>
                    </a:p>
                  </a:txBody>
                  <a:tcPr marL="9728" marR="9728" marT="9728" marB="9728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2100"/>
                    </a:p>
                  </a:txBody>
                  <a:tcPr marL="9728" marR="9728" marT="9728" marB="9728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1796528" y="-1472785"/>
            <a:ext cx="656216" cy="4249270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7605658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РЕЗУЛЬТАТЫ ПРОЕКТА</a:t>
            </a:r>
            <a:endParaRPr lang="ru-RU" sz="2400">
              <a:latin typeface="Onest Black"/>
            </a:endParaRPr>
          </a:p>
        </p:txBody>
      </p:sp>
      <p:grpSp>
        <p:nvGrpSpPr>
          <p:cNvPr id="6" name="Группа 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7" name="Овал 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7</a:t>
              </a:r>
              <a:endParaRPr/>
            </a:p>
          </p:txBody>
        </p:sp>
      </p:grpSp>
      <p:graphicFrame>
        <p:nvGraphicFramePr>
          <p:cNvPr id="9" name="Таблица 8"/>
          <p:cNvGraphicFramePr>
            <a:graphicFrameLocks xmlns:a="http://schemas.openxmlformats.org/drawingml/2006/main" noGrp="1"/>
          </p:cNvGraphicFramePr>
          <p:nvPr/>
        </p:nvGraphicFramePr>
        <p:xfrm>
          <a:off x="236667" y="1581889"/>
          <a:ext cx="11572956" cy="4598378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708548"/>
                <a:gridCol w="4577864"/>
                <a:gridCol w="6286544"/>
              </a:tblGrid>
              <a:tr h="34914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b="0">
                          <a:solidFill>
                            <a:schemeClr val="bg1"/>
                          </a:solidFill>
                          <a:latin typeface="Onest Black"/>
                        </a:rPr>
                        <a:t>№</a:t>
                      </a:r>
                      <a:endParaRPr lang="ru-RU" b="0">
                        <a:solidFill>
                          <a:schemeClr val="bg1"/>
                        </a:solidFill>
                        <a:latin typeface="Onest Black"/>
                      </a:endParaRPr>
                    </a:p>
                  </a:txBody>
                  <a:tcPr anchor="ctr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127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solidFill>
                            <a:schemeClr val="bg1"/>
                          </a:solidFill>
                          <a:latin typeface="Onest Black"/>
                        </a:rPr>
                        <a:t>НАИМЕНОВАНИЕ МЕРОПРИЯТИЯ</a:t>
                      </a:r>
                      <a:endParaRPr lang="ru-RU" sz="1600">
                        <a:solidFill>
                          <a:schemeClr val="bg1"/>
                        </a:solidFill>
                        <a:latin typeface="Onest Black"/>
                      </a:endParaRPr>
                    </a:p>
                  </a:txBody>
                  <a:tcPr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127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latin typeface="Onest Black"/>
                        </a:rPr>
                        <a:t>РЕЗУЛЬТАТ</a:t>
                      </a:r>
                      <a:r>
                        <a:rPr lang="ru-RU" sz="1600">
                          <a:latin typeface="Onest Black"/>
                        </a:rPr>
                        <a:t> МЕРОПРИЯТИЯ</a:t>
                      </a:r>
                      <a:endParaRPr lang="ru-RU" sz="1600">
                        <a:latin typeface="Onest Black"/>
                      </a:endParaRPr>
                    </a:p>
                  </a:txBody>
                  <a:tcPr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dashDot"/>
                    </a:lnR>
                    <a:lnT w="127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830699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0" strike="noStrike" spc="-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nest Black"/>
                          <a:ea typeface="+mn-ea"/>
                          <a:cs typeface="+mn-cs"/>
                        </a:rPr>
                        <a:t>1.</a:t>
                      </a:r>
                      <a:endParaRPr/>
                    </a:p>
                  </a:txBody>
                  <a:tcPr marL="38100" marR="38100" anchor="ctr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8394" marR="8394" marT="8394" marB="8394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8394" marR="8394" marT="8394" marB="8394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79192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0" strike="noStrike" spc="-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nest Black"/>
                          <a:ea typeface="+mn-ea"/>
                          <a:cs typeface="+mn-cs"/>
                        </a:rPr>
                        <a:t>2.</a:t>
                      </a:r>
                      <a:endParaRPr/>
                    </a:p>
                  </a:txBody>
                  <a:tcPr marL="38100" marR="38100" anchor="ctr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8394" marR="8394" marT="8394" marB="8394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8394" marR="8394" marT="8394" marB="8394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200577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0" strike="noStrike" spc="-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nest Black"/>
                          <a:ea typeface="+mn-ea"/>
                          <a:cs typeface="+mn-cs"/>
                        </a:rPr>
                        <a:t>3.</a:t>
                      </a:r>
                      <a:endParaRPr/>
                    </a:p>
                  </a:txBody>
                  <a:tcPr marL="38100" marR="38100" anchor="ctr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8394" marR="8394" marT="8394" marB="8394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8394" marR="8394" marT="8394" marB="8394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32215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400" b="0" strike="noStrike" spc="-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Onest Black"/>
                          <a:ea typeface="+mn-ea"/>
                          <a:cs typeface="+mn-cs"/>
                        </a:rPr>
                        <a:t>4.</a:t>
                      </a:r>
                      <a:endParaRPr/>
                    </a:p>
                  </a:txBody>
                  <a:tcPr marL="38100" marR="38100" anchor="ctr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8394" marR="8394" marT="8394" marB="8394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8394" marR="8394" marT="8394" marB="8394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1791149" y="-1467406"/>
            <a:ext cx="656216" cy="4238512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7605658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РЕЗУЛЬТАТЫ ПРОЕКТА</a:t>
            </a:r>
            <a:endParaRPr lang="ru-RU" sz="2400">
              <a:latin typeface="Onest Black"/>
            </a:endParaRPr>
          </a:p>
        </p:txBody>
      </p:sp>
      <p:grpSp>
        <p:nvGrpSpPr>
          <p:cNvPr id="6" name="Группа 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7" name="Овал 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8</a:t>
              </a:r>
              <a:endParaRPr/>
            </a:p>
          </p:txBody>
        </p:sp>
      </p:grpSp>
      <p:graphicFrame>
        <p:nvGraphicFramePr>
          <p:cNvPr id="9" name="Таблица 8"/>
          <p:cNvGraphicFramePr>
            <a:graphicFrameLocks xmlns:a="http://schemas.openxmlformats.org/drawingml/2006/main" noGrp="1"/>
          </p:cNvGraphicFramePr>
          <p:nvPr/>
        </p:nvGraphicFramePr>
        <p:xfrm>
          <a:off x="370485" y="2530599"/>
          <a:ext cx="11287206" cy="2102612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4274285"/>
                <a:gridCol w="1670885"/>
                <a:gridCol w="1670885"/>
                <a:gridCol w="1670885"/>
                <a:gridCol w="2000266"/>
              </a:tblGrid>
              <a:tr h="293027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latin typeface="Onest Black"/>
                        </a:rPr>
                        <a:t>ПОКАЗАТЕЛЬ</a:t>
                      </a:r>
                      <a:endParaRPr lang="ru-RU" sz="1600">
                        <a:latin typeface="Onest Black"/>
                      </a:endParaRPr>
                    </a:p>
                  </a:txBody>
                  <a:tcPr anchor="ctr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127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latin typeface="Onest Black"/>
                        </a:rPr>
                        <a:t>БАЗА</a:t>
                      </a:r>
                      <a:endParaRPr lang="ru-RU" sz="1600">
                        <a:latin typeface="Onest Black"/>
                      </a:endParaRPr>
                    </a:p>
                  </a:txBody>
                  <a:tcPr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127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solidFill>
                            <a:schemeClr val="bg1"/>
                          </a:solidFill>
                          <a:latin typeface="Onest Black"/>
                        </a:rPr>
                        <a:t>ЦЕЛЬ</a:t>
                      </a:r>
                      <a:endParaRPr lang="ru-RU" sz="1600">
                        <a:solidFill>
                          <a:schemeClr val="bg1"/>
                        </a:solidFill>
                        <a:latin typeface="Onest Black"/>
                      </a:endParaRPr>
                    </a:p>
                  </a:txBody>
                  <a:tcPr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127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latin typeface="Onest Black"/>
                        </a:rPr>
                        <a:t>ФАКТ</a:t>
                      </a:r>
                      <a:endParaRPr lang="ru-RU" sz="1600">
                        <a:latin typeface="Onest Black"/>
                      </a:endParaRPr>
                    </a:p>
                  </a:txBody>
                  <a:tcPr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127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1600">
                          <a:solidFill>
                            <a:schemeClr val="bg1"/>
                          </a:solidFill>
                          <a:latin typeface="Onest Black"/>
                        </a:rPr>
                        <a:t>КОММЕНТАРИЙ</a:t>
                      </a:r>
                      <a:endParaRPr lang="ru-RU" sz="1600">
                        <a:solidFill>
                          <a:schemeClr val="bg1"/>
                        </a:solidFill>
                        <a:latin typeface="Onest Black"/>
                      </a:endParaRPr>
                    </a:p>
                  </a:txBody>
                  <a:tcPr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402912"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38100" marR="38100" anchor="ctr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12797"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38100" marR="38100" anchor="ctr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51623"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38100" marR="38100" anchor="ctr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/>
                    </a:p>
                  </a:txBody>
                  <a:tcPr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2888429" y="-2564686"/>
            <a:ext cx="656216" cy="6433072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7605658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КАРТА ДОСТИГНУТОГО СОСТОЯНИЯ</a:t>
            </a:r>
            <a:endParaRPr lang="ru-RU" sz="2400">
              <a:latin typeface="Onest Black"/>
            </a:endParaRPr>
          </a:p>
        </p:txBody>
      </p:sp>
      <p:grpSp>
        <p:nvGrpSpPr>
          <p:cNvPr id="6" name="Группа 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7" name="Овал 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5</a:t>
              </a:r>
              <a:endParaRPr/>
            </a:p>
          </p:txBody>
        </p:sp>
      </p:grp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109048" y="2090776"/>
            <a:ext cx="9772735" cy="34994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2872294" y="-2548551"/>
            <a:ext cx="656216" cy="6400801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7605658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ПРИЛОЖЕНИЕ. Эффект от внедрения</a:t>
            </a:r>
            <a:endParaRPr lang="ru-RU" sz="2400">
              <a:latin typeface="Onest Black"/>
            </a:endParaRPr>
          </a:p>
        </p:txBody>
      </p:sp>
      <p:grpSp>
        <p:nvGrpSpPr>
          <p:cNvPr id="2" name="Группа 1"/>
          <p:cNvGrpSpPr/>
          <p:nvPr/>
        </p:nvGrpSpPr>
        <p:grpSpPr bwMode="auto">
          <a:xfrm>
            <a:off x="334963" y="1306044"/>
            <a:ext cx="1387736" cy="594477"/>
            <a:chOff x="2355925" y="1796528"/>
            <a:chExt cx="1387736" cy="594477"/>
          </a:xfrm>
        </p:grpSpPr>
        <p:sp>
          <p:nvSpPr>
            <p:cNvPr id="7" name="Прямоугольник 2"/>
            <p:cNvSpPr/>
            <p:nvPr/>
          </p:nvSpPr>
          <p:spPr bwMode="auto">
            <a:xfrm rot="5400000">
              <a:off x="2752554" y="1399900"/>
              <a:ext cx="594477" cy="1387736"/>
            </a:xfrm>
            <a:prstGeom prst="round2SameRect">
              <a:avLst>
                <a:gd name="adj1" fmla="val 18167"/>
                <a:gd name="adj2" fmla="val 18033"/>
              </a:avLst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defRPr/>
              </a:pPr>
              <a:endParaRPr lang="ru-RU" sz="1800" b="1" strike="noStrike" spc="-1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  <p:sp>
          <p:nvSpPr>
            <p:cNvPr id="8" name="Заголовок 1"/>
            <p:cNvSpPr/>
            <p:nvPr/>
          </p:nvSpPr>
          <p:spPr bwMode="auto">
            <a:xfrm>
              <a:off x="2529839" y="1892796"/>
              <a:ext cx="1095487" cy="34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t">
              <a:no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ru-RU" sz="2400">
                  <a:latin typeface="Onest Medium"/>
                </a:rPr>
                <a:t>б</a:t>
              </a:r>
              <a:r>
                <a:rPr lang="ru-RU" sz="2400">
                  <a:latin typeface="Onest Medium"/>
                </a:rPr>
                <a:t>ыло:</a:t>
              </a:r>
              <a:endParaRPr lang="ru-RU" sz="2400">
                <a:latin typeface="Onest Medium"/>
              </a:endParaRPr>
            </a:p>
          </p:txBody>
        </p:sp>
      </p:grpSp>
      <p:grpSp>
        <p:nvGrpSpPr>
          <p:cNvPr id="14" name="Группа 13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5" name="Овал 14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6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9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2866914" y="-2543170"/>
            <a:ext cx="656216" cy="6390040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7605658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ПРИЛОЖЕНИЕ. Эффект от внедрения</a:t>
            </a:r>
            <a:endParaRPr lang="ru-RU" sz="2400">
              <a:latin typeface="Onest Black"/>
            </a:endParaRPr>
          </a:p>
        </p:txBody>
      </p:sp>
      <p:grpSp>
        <p:nvGrpSpPr>
          <p:cNvPr id="14" name="Группа 13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5" name="Овал 14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6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10</a:t>
              </a:r>
              <a:endParaRPr lang="ru-RU" sz="2400">
                <a:latin typeface="Onest ExtraBold"/>
              </a:endParaRPr>
            </a:p>
          </p:txBody>
        </p:sp>
      </p:grpSp>
      <p:grpSp>
        <p:nvGrpSpPr>
          <p:cNvPr id="10" name="Группа 9"/>
          <p:cNvGrpSpPr/>
          <p:nvPr/>
        </p:nvGrpSpPr>
        <p:grpSpPr bwMode="auto">
          <a:xfrm>
            <a:off x="334963" y="1306045"/>
            <a:ext cx="1387736" cy="594477"/>
            <a:chOff x="2355925" y="1796528"/>
            <a:chExt cx="1387736" cy="594477"/>
          </a:xfrm>
        </p:grpSpPr>
        <p:sp>
          <p:nvSpPr>
            <p:cNvPr id="11" name="Прямоугольник 2"/>
            <p:cNvSpPr/>
            <p:nvPr/>
          </p:nvSpPr>
          <p:spPr bwMode="auto">
            <a:xfrm rot="5400000">
              <a:off x="2752554" y="1399900"/>
              <a:ext cx="594477" cy="1387736"/>
            </a:xfrm>
            <a:prstGeom prst="round2SameRect">
              <a:avLst>
                <a:gd name="adj1" fmla="val 18167"/>
                <a:gd name="adj2" fmla="val 18033"/>
              </a:avLst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defRPr/>
              </a:pPr>
              <a:endParaRPr lang="ru-RU" sz="1800" b="1" strike="noStrike" spc="-1">
                <a:solidFill>
                  <a:schemeClr val="lt1"/>
                </a:solidFill>
                <a:latin typeface="Arial"/>
                <a:ea typeface="DejaVu Sans"/>
              </a:endParaRPr>
            </a:p>
          </p:txBody>
        </p:sp>
        <p:sp>
          <p:nvSpPr>
            <p:cNvPr id="12" name="Заголовок 1"/>
            <p:cNvSpPr/>
            <p:nvPr/>
          </p:nvSpPr>
          <p:spPr bwMode="auto">
            <a:xfrm>
              <a:off x="2497566" y="1892796"/>
              <a:ext cx="1213821" cy="340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t">
              <a:noAutofit/>
            </a:bodyPr>
            <a:lstStyle/>
            <a:p>
              <a:pPr>
                <a:lnSpc>
                  <a:spcPct val="90000"/>
                </a:lnSpc>
                <a:defRPr/>
              </a:pPr>
              <a:r>
                <a:rPr lang="ru-RU" sz="2400">
                  <a:latin typeface="Onest Medium"/>
                </a:rPr>
                <a:t>с</a:t>
              </a:r>
              <a:r>
                <a:rPr lang="ru-RU" sz="2400">
                  <a:latin typeface="Onest Medium"/>
                </a:rPr>
                <a:t>тало:</a:t>
              </a:r>
              <a:endParaRPr lang="ru-RU" sz="2400">
                <a:latin typeface="Onest Medium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3087447" y="-2763704"/>
            <a:ext cx="656216" cy="6831107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7605658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ПРИЛОЖЕНИЕ. Стандарты и нормативы</a:t>
            </a:r>
            <a:endParaRPr lang="ru-RU" sz="2400">
              <a:latin typeface="Onest Black"/>
            </a:endParaRPr>
          </a:p>
        </p:txBody>
      </p:sp>
      <p:grpSp>
        <p:nvGrpSpPr>
          <p:cNvPr id="10" name="Группа 9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14" name="Овал 13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15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11</a:t>
              </a:r>
              <a:endParaRPr lang="ru-RU" sz="2400">
                <a:latin typeface="Onest ExtraBold"/>
              </a:endParaRPr>
            </a:p>
          </p:txBody>
        </p:sp>
      </p:grpSp>
      <p:sp>
        <p:nvSpPr>
          <p:cNvPr id="16" name="TextBox 15"/>
          <p:cNvSpPr txBox="1"/>
          <p:nvPr/>
        </p:nvSpPr>
        <p:spPr bwMode="auto">
          <a:xfrm>
            <a:off x="236666" y="1751882"/>
            <a:ext cx="8230141" cy="579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6811FF"/>
              </a:buClr>
              <a:buFont typeface="Onest Medium"/>
              <a:buChar char="→"/>
              <a:defRPr/>
            </a:pPr>
            <a:r>
              <a:rPr lang="ru-RU" sz="1600">
                <a:latin typeface="Onest Medium"/>
              </a:rPr>
              <a:t>Прикрепите разработанные </a:t>
            </a:r>
            <a:r>
              <a:rPr lang="ru-RU" sz="1600">
                <a:latin typeface="Onest Black"/>
              </a:rPr>
              <a:t>приказы, НПА </a:t>
            </a:r>
            <a:r>
              <a:rPr lang="ru-RU" sz="1600">
                <a:latin typeface="Onest Medium"/>
              </a:rPr>
              <a:t>и иные </a:t>
            </a:r>
            <a:r>
              <a:rPr lang="ru-RU" sz="1600">
                <a:latin typeface="Onest Black"/>
              </a:rPr>
              <a:t>стандарты работы </a:t>
            </a:r>
            <a:r>
              <a:rPr lang="ru-RU" sz="1600">
                <a:latin typeface="Onest Medium"/>
              </a:rPr>
              <a:t>в рамках </a:t>
            </a:r>
            <a:r>
              <a:rPr lang="ru-RU" sz="1600">
                <a:latin typeface="Onest Medium"/>
              </a:rPr>
              <a:t>проекта</a:t>
            </a:r>
            <a:r>
              <a:rPr lang="ru-RU" sz="1600">
                <a:latin typeface="Onest Medium"/>
              </a:rPr>
              <a:t> </a:t>
            </a:r>
            <a:r>
              <a:rPr lang="ru-RU" sz="1600">
                <a:latin typeface="Onest Medium"/>
              </a:rPr>
              <a:t>(сканы со ссылками/</a:t>
            </a:r>
            <a:r>
              <a:rPr lang="en-US" sz="1600">
                <a:latin typeface="Onest Medium"/>
              </a:rPr>
              <a:t>qr</a:t>
            </a:r>
            <a:r>
              <a:rPr lang="ru-RU" sz="1600">
                <a:latin typeface="Onest Medium"/>
              </a:rPr>
              <a:t>-коды).</a:t>
            </a:r>
            <a:endParaRPr lang="ru-RU" sz="1600">
              <a:latin typeface="Onest Medium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3335379" y="-3011636"/>
            <a:ext cx="977933" cy="7648689"/>
          </a:xfrm>
          <a:prstGeom prst="round2SameRect">
            <a:avLst>
              <a:gd name="adj1" fmla="val 18167"/>
              <a:gd name="adj2" fmla="val 0"/>
            </a:avLst>
          </a:prstGeom>
          <a:blipFill>
            <a:blip r:embed="rId2">
              <a:alphaModFix amt="63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7605658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ПРИЛОЖЕНИЕ. Дополнительная информация </a:t>
            </a:r>
            <a:endParaRPr/>
          </a:p>
          <a:p>
            <a:pPr>
              <a:lnSpc>
                <a:spcPct val="90000"/>
              </a:lnSpc>
              <a:defRPr/>
            </a:pPr>
            <a:r>
              <a:rPr lang="ru-RU" sz="2400">
                <a:latin typeface="Onest Black"/>
              </a:rPr>
              <a:t>о проекте</a:t>
            </a:r>
            <a:endParaRPr lang="ru-RU" sz="2400">
              <a:latin typeface="Onest Black"/>
            </a:endParaRPr>
          </a:p>
        </p:txBody>
      </p:sp>
      <p:grpSp>
        <p:nvGrpSpPr>
          <p:cNvPr id="6" name="Группа 5"/>
          <p:cNvGrpSpPr/>
          <p:nvPr/>
        </p:nvGrpSpPr>
        <p:grpSpPr bwMode="auto">
          <a:xfrm>
            <a:off x="11345720" y="339877"/>
            <a:ext cx="623944" cy="623943"/>
            <a:chOff x="11482442" y="369793"/>
            <a:chExt cx="623944" cy="623943"/>
          </a:xfrm>
        </p:grpSpPr>
        <p:sp>
          <p:nvSpPr>
            <p:cNvPr id="7" name="Овал 6"/>
            <p:cNvSpPr/>
            <p:nvPr/>
          </p:nvSpPr>
          <p:spPr bwMode="auto">
            <a:xfrm>
              <a:off x="11510840" y="369793"/>
              <a:ext cx="567147" cy="567147"/>
            </a:xfrm>
            <a:prstGeom prst="ellipse">
              <a:avLst/>
            </a:prstGeom>
            <a:blipFill>
              <a:blip r:embed="rId3">
                <a:alphaModFix amt="63000"/>
              </a:blip>
              <a:stretch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ru-RU">
                <a:latin typeface="Onest ExtraBold"/>
              </a:endParaRPr>
            </a:p>
          </p:txBody>
        </p:sp>
        <p:sp>
          <p:nvSpPr>
            <p:cNvPr id="8" name="Заголовок 1"/>
            <p:cNvSpPr/>
            <p:nvPr/>
          </p:nvSpPr>
          <p:spPr bwMode="auto">
            <a:xfrm>
              <a:off x="11482442" y="369793"/>
              <a:ext cx="623944" cy="62394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rgbClr val="000000"/>
            </a:effectRef>
            <a:fontRef idx="minor"/>
          </p:style>
          <p:txBody>
            <a:bodyPr anchor="ctr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ru-RU" sz="2400">
                  <a:latin typeface="Onest ExtraBold"/>
                </a:rPr>
                <a:t>12</a:t>
              </a:r>
              <a:endParaRPr lang="ru-RU" sz="2400">
                <a:latin typeface="Onest ExtraBold"/>
              </a:endParaRPr>
            </a:p>
          </p:txBody>
        </p:sp>
      </p:grpSp>
      <p:graphicFrame>
        <p:nvGraphicFramePr>
          <p:cNvPr id="9" name="Таблица 8"/>
          <p:cNvGraphicFramePr>
            <a:graphicFrameLocks xmlns:a="http://schemas.openxmlformats.org/drawingml/2006/main" noGrp="1"/>
          </p:cNvGraphicFramePr>
          <p:nvPr/>
        </p:nvGraphicFramePr>
        <p:xfrm>
          <a:off x="652190" y="2005502"/>
          <a:ext cx="10693529" cy="39600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743648"/>
                <a:gridCol w="3566403"/>
                <a:gridCol w="6383478"/>
              </a:tblGrid>
              <a:tr h="792000"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200" b="0">
                        <a:solidFill>
                          <a:schemeClr val="tx1"/>
                        </a:solidFill>
                        <a:latin typeface="TT Norms Regular"/>
                        <a:ea typeface="+mn-ea"/>
                        <a:cs typeface="+mn-cs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127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5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latin typeface="Onest ExtraBold"/>
                          <a:ea typeface="+mn-ea"/>
                          <a:cs typeface="+mn-cs"/>
                        </a:rPr>
                        <a:t>Наличие публикации о реализации проекта (соц.сети оив, местные, федеральные СМИ) - ссылка</a:t>
                      </a:r>
                      <a:endParaRPr/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127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100">
                        <a:solidFill>
                          <a:schemeClr val="tx1"/>
                        </a:solidFill>
                        <a:latin typeface="Onest Medium"/>
                        <a:ea typeface="+mn-ea"/>
                        <a:cs typeface="+mn-cs"/>
                      </a:endParaRP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12700" algn="ctr">
                      <a:noFill/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92000"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200" b="0">
                        <a:solidFill>
                          <a:schemeClr val="tx1"/>
                        </a:solidFill>
                        <a:latin typeface="TT Norms Regular"/>
                        <a:ea typeface="+mn-ea"/>
                        <a:cs typeface="+mn-cs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5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latin typeface="Onest ExtraBold"/>
                          <a:ea typeface="+mn-ea"/>
                          <a:cs typeface="+mn-cs"/>
                        </a:rPr>
                        <a:t>Масштабность проекта (в процессе задействованы (структурные подразделения ОИВ, иные ОИВ и подведомственные учреждения)</a:t>
                      </a:r>
                      <a:endParaRPr/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100">
                        <a:solidFill>
                          <a:schemeClr val="tx1"/>
                        </a:solidFill>
                        <a:latin typeface="Onest Medium"/>
                        <a:ea typeface="+mn-ea"/>
                        <a:cs typeface="+mn-cs"/>
                      </a:endParaRP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92000"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200" b="0">
                        <a:solidFill>
                          <a:schemeClr val="tx1"/>
                        </a:solidFill>
                        <a:latin typeface="TT Norms Regular"/>
                        <a:ea typeface="+mn-ea"/>
                        <a:cs typeface="+mn-cs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5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latin typeface="Onest ExtraBold"/>
                          <a:ea typeface="+mn-ea"/>
                          <a:cs typeface="+mn-cs"/>
                        </a:rPr>
                        <a:t>Источники проблематики при выборе темы проекта (обращения граждан, соц. значимость, межведомственное взаимодействие и т.д.)</a:t>
                      </a:r>
                      <a:endParaRPr/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100">
                        <a:solidFill>
                          <a:schemeClr val="tx1"/>
                        </a:solidFill>
                        <a:latin typeface="Onest Medium"/>
                        <a:ea typeface="+mn-ea"/>
                        <a:cs typeface="+mn-cs"/>
                      </a:endParaRP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92000">
                <a:tc>
                  <a:txBody>
                    <a:bodyPr/>
                    <a:p>
                      <a:pPr>
                        <a:defRPr/>
                      </a:pPr>
                      <a:endParaRPr lang="ru-RU" sz="1200" b="0">
                        <a:solidFill>
                          <a:schemeClr val="tx1"/>
                        </a:solidFill>
                        <a:latin typeface="TT Norms Regular"/>
                        <a:ea typeface="+mn-ea"/>
                        <a:cs typeface="+mn-cs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5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latin typeface="Onest ExtraBold"/>
                          <a:ea typeface="+mn-ea"/>
                          <a:cs typeface="+mn-cs"/>
                        </a:rPr>
                        <a:t>Стандартизация результатов проекта (стандарт, регламент, алгоритм и т.д.) </a:t>
                      </a:r>
                      <a:endParaRPr/>
                    </a:p>
                    <a:p>
                      <a:pPr>
                        <a:defRPr/>
                      </a:pPr>
                      <a:endParaRPr lang="ru-RU" sz="1100">
                        <a:solidFill>
                          <a:schemeClr val="tx1"/>
                        </a:solidFill>
                        <a:latin typeface="Onest ExtraBold"/>
                        <a:ea typeface="+mn-ea"/>
                        <a:cs typeface="+mn-cs"/>
                      </a:endParaRP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ru-RU" sz="1100">
                        <a:solidFill>
                          <a:schemeClr val="tx1"/>
                        </a:solidFill>
                        <a:latin typeface="Onest Medium"/>
                        <a:ea typeface="+mn-ea"/>
                        <a:cs typeface="+mn-cs"/>
                      </a:endParaRP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28575" algn="ctr">
                      <a:solidFill>
                        <a:schemeClr val="bg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792000"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400" b="0">
                        <a:solidFill>
                          <a:schemeClr val="tx1"/>
                        </a:solidFill>
                        <a:latin typeface="TT Norms Regular"/>
                        <a:ea typeface="+mn-ea"/>
                        <a:cs typeface="+mn-cs"/>
                      </a:endParaRPr>
                    </a:p>
                  </a:txBody>
                  <a:tcPr marL="38100" marR="38100">
                    <a:lnL w="12700" algn="ctr">
                      <a:noFill/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50000"/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100">
                          <a:solidFill>
                            <a:schemeClr val="tx1"/>
                          </a:solidFill>
                          <a:latin typeface="Onest ExtraBold"/>
                          <a:ea typeface="+mn-ea"/>
                          <a:cs typeface="+mn-cs"/>
                        </a:rPr>
                        <a:t>Реализация проекта с помощью цифровых решений </a:t>
                      </a:r>
                      <a:endParaRPr/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28575" algn="ctr">
                      <a:solidFill>
                        <a:schemeClr val="bg1"/>
                      </a:solidFill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rgbClr val="9D8DFF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indent="0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ru-RU" sz="1100" b="1">
                        <a:solidFill>
                          <a:schemeClr val="tx1"/>
                        </a:solidFill>
                        <a:latin typeface="Onest Medium"/>
                        <a:ea typeface="+mn-ea"/>
                        <a:cs typeface="+mn-cs"/>
                      </a:endParaRPr>
                    </a:p>
                  </a:txBody>
                  <a:tcPr marL="38100" marR="38100" anchor="ctr">
                    <a:lnL w="28575" algn="ctr">
                      <a:solidFill>
                        <a:schemeClr val="bg1"/>
                      </a:solidFill>
                      <a:prstDash val="solid"/>
                    </a:lnL>
                    <a:lnR w="12700" algn="ctr">
                      <a:noFill/>
                      <a:prstDash val="solid"/>
                    </a:lnR>
                    <a:lnT w="28575" algn="ctr">
                      <a:solidFill>
                        <a:schemeClr val="bg1"/>
                      </a:solidFill>
                      <a:prstDash val="solid"/>
                    </a:lnT>
                    <a:lnB w="12700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24055" y="2235512"/>
            <a:ext cx="360401" cy="36040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24055" y="3060849"/>
            <a:ext cx="395960" cy="395960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95801" y="3765144"/>
            <a:ext cx="440717" cy="440717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795802" y="4612028"/>
            <a:ext cx="403378" cy="403378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817291" y="5389433"/>
            <a:ext cx="409086" cy="4090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Прямоугольник 2"/>
          <p:cNvSpPr/>
          <p:nvPr/>
        </p:nvSpPr>
        <p:spPr bwMode="auto">
          <a:xfrm rot="5400000">
            <a:off x="2666998" y="-2666999"/>
            <a:ext cx="6858002" cy="12191999"/>
          </a:xfrm>
          <a:prstGeom prst="round2SameRect">
            <a:avLst>
              <a:gd name="adj1" fmla="val 0"/>
              <a:gd name="adj2" fmla="val 0"/>
            </a:avLst>
          </a:prstGeom>
          <a:blipFill>
            <a:blip r:embed="rId2">
              <a:alphaModFix amt="56000"/>
            </a:blip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defRPr/>
            </a:pPr>
            <a:endParaRPr lang="ru-RU" sz="1800" b="1" strike="noStrike" spc="-1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5" name="Заголовок 1"/>
          <p:cNvSpPr/>
          <p:nvPr/>
        </p:nvSpPr>
        <p:spPr bwMode="auto">
          <a:xfrm>
            <a:off x="236667" y="481750"/>
            <a:ext cx="7605658" cy="3402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90000"/>
              </a:lnSpc>
              <a:defRPr/>
            </a:pPr>
            <a:endParaRPr lang="ru-RU" sz="2400">
              <a:latin typeface="Onest Black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1753652" y="3008978"/>
            <a:ext cx="8684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2400">
                <a:latin typeface="Onest Black"/>
              </a:rPr>
              <a:t>СПАСИБО ЗА ВНИМАНИЕ!</a:t>
            </a:r>
            <a:endParaRPr lang="ru-RU" sz="2400">
              <a:latin typeface="Onest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Liberation Sans"/>
        <a:cs typeface="Liberation Sans"/>
      </a:majorFont>
      <a:minorFont>
        <a:latin typeface="Calibri"/>
        <a:ea typeface="Liberation Sans"/>
        <a:cs typeface="Liberation Sans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Р7-Офис/2025.3.2.1000</Application>
  <DocSecurity>0</DocSecurity>
  <PresentationFormat>Широкоэкранный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Надежда Вячеславовна Гребенюк</dc:creator>
  <cp:keywords/>
  <dc:description/>
  <dc:identifier/>
  <dc:language/>
  <cp:lastModifiedBy>adelina.aksenova</cp:lastModifiedBy>
  <cp:revision>86</cp:revision>
  <dcterms:created xsi:type="dcterms:W3CDTF">2024-11-14T01:51:24Z</dcterms:created>
  <dcterms:modified xsi:type="dcterms:W3CDTF">2026-09-15T07:22:29Z</dcterms:modified>
  <cp:category/>
  <cp:contentStatus/>
  <cp:version/>
</cp:coreProperties>
</file>